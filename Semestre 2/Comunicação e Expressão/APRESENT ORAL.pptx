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74" r:id="rId3"/>
    <p:sldId id="276" r:id="rId4"/>
    <p:sldId id="269" r:id="rId5"/>
    <p:sldId id="271" r:id="rId6"/>
    <p:sldId id="272" r:id="rId7"/>
    <p:sldId id="273" r:id="rId8"/>
    <p:sldId id="277" r:id="rId9"/>
    <p:sldId id="280" r:id="rId10"/>
    <p:sldId id="282" r:id="rId11"/>
    <p:sldId id="264" r:id="rId12"/>
    <p:sldId id="265" r:id="rId13"/>
    <p:sldId id="281" r:id="rId14"/>
    <p:sldId id="279" r:id="rId15"/>
    <p:sldId id="275" r:id="rId16"/>
    <p:sldId id="278" r:id="rId17"/>
    <p:sldId id="266" r:id="rId18"/>
    <p:sldId id="267"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Ybov4olrFy639s/vGqxewSRxKg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5E8B4C-8078-4035-BF47-5B72E9595A8D}">
  <a:tblStyle styleId="{535E8B4C-8078-4035-BF47-5B72E9595A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monkeybusiness.com.br/blog/bancos-de-imagens-gratuitos/" TargetMode="External"/><Relationship Id="rId2" Type="http://schemas.openxmlformats.org/officeDocument/2006/relationships/hyperlink" Target="http://monkeybusiness.com.br/blog/como-contar-historias-te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9p1kfkpsYzQ&amp;ab_channel=Englishing" TargetMode="External"/><Relationship Id="rId2" Type="http://schemas.openxmlformats.org/officeDocument/2006/relationships/hyperlink" Target="https://www.youtube.com/watch?v=20fD6h7j6Wc&amp;ab_channel=Educa%C3%A7%C3%A3oemRedeUFSB"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460131" y="490517"/>
            <a:ext cx="9144000" cy="194493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pt-BR" dirty="0" smtClean="0"/>
              <a:t>APRESENTAÇÃO</a:t>
            </a:r>
            <a:r>
              <a:rPr lang="pt-BR" dirty="0" smtClean="0"/>
              <a:t> </a:t>
            </a:r>
            <a:r>
              <a:rPr lang="pt-BR" dirty="0" smtClean="0"/>
              <a:t>ORAL</a:t>
            </a:r>
            <a:br>
              <a:rPr lang="pt-BR" dirty="0" smtClean="0"/>
            </a:br>
            <a:r>
              <a:rPr lang="pt-BR" dirty="0" smtClean="0"/>
              <a:t> </a:t>
            </a:r>
            <a:endParaRPr dirty="0"/>
          </a:p>
        </p:txBody>
      </p:sp>
      <p:sp>
        <p:nvSpPr>
          <p:cNvPr id="85" name="Google Shape;85;p1"/>
          <p:cNvSpPr txBox="1">
            <a:spLocks noGrp="1"/>
          </p:cNvSpPr>
          <p:nvPr>
            <p:ph type="subTitle" idx="1"/>
          </p:nvPr>
        </p:nvSpPr>
        <p:spPr>
          <a:xfrm>
            <a:off x="2341684" y="1685315"/>
            <a:ext cx="9144000" cy="1655762"/>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dk1"/>
              </a:buClr>
              <a:buSzPts val="2400"/>
              <a:buNone/>
            </a:pPr>
            <a:r>
              <a:rPr lang="pt-BR" dirty="0"/>
              <a:t>KAYRON BEVILÁQUA (IFSC)</a:t>
            </a:r>
            <a:endParaRPr dirty="0"/>
          </a:p>
        </p:txBody>
      </p:sp>
      <p:pic>
        <p:nvPicPr>
          <p:cNvPr id="2" name="Imagem 1"/>
          <p:cNvPicPr>
            <a:picLocks noChangeAspect="1"/>
          </p:cNvPicPr>
          <p:nvPr/>
        </p:nvPicPr>
        <p:blipFill>
          <a:blip r:embed="rId3"/>
          <a:stretch>
            <a:fillRect/>
          </a:stretch>
        </p:blipFill>
        <p:spPr>
          <a:xfrm>
            <a:off x="3833448" y="2954216"/>
            <a:ext cx="5217135" cy="329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Diferenças entre fala e escrita</a:t>
            </a:r>
            <a:endParaRPr lang="pt-BR" dirty="0"/>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489255" y="1825625"/>
            <a:ext cx="11213489" cy="4051797"/>
          </a:xfrm>
          <a:prstGeom prst="rect">
            <a:avLst/>
          </a:prstGeom>
        </p:spPr>
      </p:pic>
    </p:spTree>
    <p:extLst>
      <p:ext uri="{BB962C8B-B14F-4D97-AF65-F5344CB8AC3E}">
        <p14:creationId xmlns:p14="http://schemas.microsoft.com/office/powerpoint/2010/main" val="3306972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EXPOSIÇÃO ORAL</a:t>
            </a:r>
            <a:endParaRPr lang="pt-BR" dirty="0"/>
          </a:p>
        </p:txBody>
      </p:sp>
      <p:sp>
        <p:nvSpPr>
          <p:cNvPr id="3" name="Espaço Reservado para Texto 2"/>
          <p:cNvSpPr>
            <a:spLocks noGrp="1"/>
          </p:cNvSpPr>
          <p:nvPr>
            <p:ph type="body" idx="1"/>
          </p:nvPr>
        </p:nvSpPr>
        <p:spPr/>
        <p:txBody>
          <a:bodyPr>
            <a:normAutofit lnSpcReduction="10000"/>
          </a:bodyPr>
          <a:lstStyle/>
          <a:p>
            <a:r>
              <a:rPr lang="pt-BR" dirty="0" smtClean="0"/>
              <a:t>GÊNERO </a:t>
            </a:r>
            <a:r>
              <a:rPr lang="pt-BR" dirty="0" smtClean="0">
                <a:solidFill>
                  <a:srgbClr val="FF0000"/>
                </a:solidFill>
              </a:rPr>
              <a:t>HÍBRIDO</a:t>
            </a:r>
          </a:p>
          <a:p>
            <a:endParaRPr lang="pt-BR" dirty="0">
              <a:solidFill>
                <a:srgbClr val="FF0000"/>
              </a:solidFill>
            </a:endParaRPr>
          </a:p>
          <a:p>
            <a:r>
              <a:rPr lang="pt-BR" dirty="0" smtClean="0">
                <a:solidFill>
                  <a:schemeClr val="tx1"/>
                </a:solidFill>
              </a:rPr>
              <a:t>HÁ PLANEJAMENTO</a:t>
            </a:r>
          </a:p>
          <a:p>
            <a:endParaRPr lang="pt-BR" dirty="0">
              <a:solidFill>
                <a:schemeClr val="tx1"/>
              </a:solidFill>
            </a:endParaRPr>
          </a:p>
          <a:p>
            <a:r>
              <a:rPr lang="pt-BR" dirty="0" smtClean="0">
                <a:solidFill>
                  <a:schemeClr val="tx1"/>
                </a:solidFill>
              </a:rPr>
              <a:t>HÁ SUPORTE ESCRITO</a:t>
            </a:r>
          </a:p>
          <a:p>
            <a:endParaRPr lang="pt-BR" dirty="0">
              <a:solidFill>
                <a:schemeClr val="tx1"/>
              </a:solidFill>
            </a:endParaRPr>
          </a:p>
          <a:p>
            <a:r>
              <a:rPr lang="pt-BR" dirty="0" smtClean="0">
                <a:solidFill>
                  <a:schemeClr val="tx1"/>
                </a:solidFill>
              </a:rPr>
              <a:t>HÁ FORMALIDADE</a:t>
            </a:r>
          </a:p>
          <a:p>
            <a:endParaRPr lang="pt-BR" dirty="0">
              <a:solidFill>
                <a:schemeClr val="tx1"/>
              </a:solidFill>
            </a:endParaRPr>
          </a:p>
          <a:p>
            <a:r>
              <a:rPr lang="pt-BR" dirty="0" smtClean="0">
                <a:solidFill>
                  <a:schemeClr val="tx1"/>
                </a:solidFill>
              </a:rPr>
              <a:t>HÁ RECURSOS GESTUAIS, INTERLOCUTOR DIRETO...</a:t>
            </a:r>
            <a:endParaRPr lang="pt-BR" dirty="0">
              <a:solidFill>
                <a:schemeClr val="tx1"/>
              </a:solidFill>
            </a:endParaRPr>
          </a:p>
        </p:txBody>
      </p:sp>
    </p:spTree>
    <p:extLst>
      <p:ext uri="{BB962C8B-B14F-4D97-AF65-F5344CB8AC3E}">
        <p14:creationId xmlns:p14="http://schemas.microsoft.com/office/powerpoint/2010/main" val="3477330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APRESENTAÇÃO ORAL</a:t>
            </a:r>
            <a:endParaRPr lang="pt-BR" dirty="0"/>
          </a:p>
        </p:txBody>
      </p:sp>
      <p:sp>
        <p:nvSpPr>
          <p:cNvPr id="3" name="Espaço Reservado para Texto 2"/>
          <p:cNvSpPr>
            <a:spLocks noGrp="1"/>
          </p:cNvSpPr>
          <p:nvPr>
            <p:ph type="body" idx="1"/>
          </p:nvPr>
        </p:nvSpPr>
        <p:spPr>
          <a:xfrm>
            <a:off x="838200" y="1825625"/>
            <a:ext cx="5914292" cy="4351338"/>
          </a:xfrm>
        </p:spPr>
        <p:txBody>
          <a:bodyPr/>
          <a:lstStyle/>
          <a:p>
            <a:pPr marL="228600" lvl="0" indent="-228600">
              <a:spcBef>
                <a:spcPts val="0"/>
              </a:spcBef>
              <a:buSzPts val="2800"/>
            </a:pPr>
            <a:r>
              <a:rPr lang="pt-BR" dirty="0"/>
              <a:t>Recurso bastante usado </a:t>
            </a:r>
            <a:r>
              <a:rPr lang="pt-BR" dirty="0" smtClean="0"/>
              <a:t>no meio </a:t>
            </a:r>
            <a:r>
              <a:rPr lang="pt-BR" dirty="0" smtClean="0">
                <a:solidFill>
                  <a:srgbClr val="FF0000"/>
                </a:solidFill>
              </a:rPr>
              <a:t>acadêmico</a:t>
            </a:r>
            <a:r>
              <a:rPr lang="pt-BR" dirty="0" smtClean="0"/>
              <a:t> e </a:t>
            </a:r>
            <a:r>
              <a:rPr lang="pt-BR" dirty="0" smtClean="0">
                <a:solidFill>
                  <a:srgbClr val="FF0000"/>
                </a:solidFill>
              </a:rPr>
              <a:t>científico</a:t>
            </a:r>
            <a:r>
              <a:rPr lang="pt-BR" dirty="0" smtClean="0"/>
              <a:t>.</a:t>
            </a:r>
          </a:p>
          <a:p>
            <a:pPr marL="228600" lvl="0" indent="-228600">
              <a:spcBef>
                <a:spcPts val="0"/>
              </a:spcBef>
              <a:buSzPts val="2800"/>
            </a:pPr>
            <a:endParaRPr lang="pt-BR" dirty="0"/>
          </a:p>
          <a:p>
            <a:pPr marL="228600" lvl="0" indent="-228600">
              <a:buSzPts val="2800"/>
            </a:pPr>
            <a:r>
              <a:rPr lang="pt-BR" dirty="0"/>
              <a:t>Estratégia de </a:t>
            </a:r>
            <a:r>
              <a:rPr lang="pt-BR" dirty="0" smtClean="0">
                <a:solidFill>
                  <a:srgbClr val="FF0000"/>
                </a:solidFill>
              </a:rPr>
              <a:t>compartilhamento</a:t>
            </a:r>
            <a:r>
              <a:rPr lang="pt-BR" dirty="0" smtClean="0"/>
              <a:t> e </a:t>
            </a:r>
            <a:r>
              <a:rPr lang="pt-BR" dirty="0" smtClean="0"/>
              <a:t>diálogo</a:t>
            </a:r>
          </a:p>
          <a:p>
            <a:pPr marL="228600" lvl="0" indent="-228600">
              <a:buSzPts val="2800"/>
            </a:pPr>
            <a:endParaRPr lang="pt-BR" dirty="0"/>
          </a:p>
          <a:p>
            <a:pPr marL="228600" lvl="0" indent="-228600">
              <a:buSzPts val="2800"/>
            </a:pPr>
            <a:r>
              <a:rPr lang="pt-BR" dirty="0" smtClean="0"/>
              <a:t>Estratégia de </a:t>
            </a:r>
            <a:r>
              <a:rPr lang="pt-BR" dirty="0" smtClean="0">
                <a:solidFill>
                  <a:srgbClr val="FF0000"/>
                </a:solidFill>
              </a:rPr>
              <a:t>convencimento</a:t>
            </a:r>
            <a:endParaRPr lang="pt-BR" dirty="0">
              <a:solidFill>
                <a:srgbClr val="FF0000"/>
              </a:solidFill>
            </a:endParaRPr>
          </a:p>
          <a:p>
            <a:pPr marL="0" lvl="0" indent="0">
              <a:buSzPts val="2800"/>
              <a:buNone/>
            </a:pPr>
            <a:endParaRPr lang="pt-BR" dirty="0"/>
          </a:p>
          <a:p>
            <a:endParaRPr lang="pt-BR" dirty="0"/>
          </a:p>
        </p:txBody>
      </p:sp>
      <p:pic>
        <p:nvPicPr>
          <p:cNvPr id="4" name="Imagem 3"/>
          <p:cNvPicPr>
            <a:picLocks noChangeAspect="1"/>
          </p:cNvPicPr>
          <p:nvPr/>
        </p:nvPicPr>
        <p:blipFill>
          <a:blip r:embed="rId2"/>
          <a:stretch>
            <a:fillRect/>
          </a:stretch>
        </p:blipFill>
        <p:spPr>
          <a:xfrm>
            <a:off x="6992653" y="536330"/>
            <a:ext cx="4361147" cy="2756754"/>
          </a:xfrm>
          <a:prstGeom prst="rect">
            <a:avLst/>
          </a:prstGeom>
        </p:spPr>
      </p:pic>
    </p:spTree>
    <p:extLst>
      <p:ext uri="{BB962C8B-B14F-4D97-AF65-F5344CB8AC3E}">
        <p14:creationId xmlns:p14="http://schemas.microsoft.com/office/powerpoint/2010/main" val="2281971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EXEMPLOS </a:t>
            </a:r>
            <a:endParaRPr lang="pt-BR" dirty="0"/>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2737704" y="1929606"/>
            <a:ext cx="6276975" cy="4143375"/>
          </a:xfrm>
          <a:prstGeom prst="rect">
            <a:avLst/>
          </a:prstGeom>
        </p:spPr>
      </p:pic>
    </p:spTree>
    <p:extLst>
      <p:ext uri="{BB962C8B-B14F-4D97-AF65-F5344CB8AC3E}">
        <p14:creationId xmlns:p14="http://schemas.microsoft.com/office/powerpoint/2010/main" val="1408972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519112" y="1090612"/>
            <a:ext cx="11153775" cy="4676775"/>
          </a:xfrm>
          <a:prstGeom prst="rect">
            <a:avLst/>
          </a:prstGeom>
        </p:spPr>
      </p:pic>
    </p:spTree>
    <p:extLst>
      <p:ext uri="{BB962C8B-B14F-4D97-AF65-F5344CB8AC3E}">
        <p14:creationId xmlns:p14="http://schemas.microsoft.com/office/powerpoint/2010/main" val="199427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1362807" y="239007"/>
            <a:ext cx="9434512" cy="6624610"/>
          </a:xfrm>
          <a:prstGeom prst="rect">
            <a:avLst/>
          </a:prstGeom>
        </p:spPr>
      </p:pic>
    </p:spTree>
    <p:extLst>
      <p:ext uri="{BB962C8B-B14F-4D97-AF65-F5344CB8AC3E}">
        <p14:creationId xmlns:p14="http://schemas.microsoft.com/office/powerpoint/2010/main" val="3240898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PLANEJAMENTO PRÉVIO – fase escrita</a:t>
            </a:r>
            <a:endParaRPr lang="pt-BR" dirty="0"/>
          </a:p>
        </p:txBody>
      </p:sp>
      <p:sp>
        <p:nvSpPr>
          <p:cNvPr id="3" name="Espaço Reservado para Texto 2"/>
          <p:cNvSpPr>
            <a:spLocks noGrp="1"/>
          </p:cNvSpPr>
          <p:nvPr>
            <p:ph type="body" idx="1"/>
          </p:nvPr>
        </p:nvSpPr>
        <p:spPr/>
        <p:txBody>
          <a:bodyPr/>
          <a:lstStyle/>
          <a:p>
            <a:endParaRPr lang="pt-BR" dirty="0"/>
          </a:p>
        </p:txBody>
      </p:sp>
      <p:pic>
        <p:nvPicPr>
          <p:cNvPr id="4" name="Imagem 3"/>
          <p:cNvPicPr>
            <a:picLocks noChangeAspect="1"/>
          </p:cNvPicPr>
          <p:nvPr/>
        </p:nvPicPr>
        <p:blipFill>
          <a:blip r:embed="rId2"/>
          <a:stretch>
            <a:fillRect/>
          </a:stretch>
        </p:blipFill>
        <p:spPr>
          <a:xfrm>
            <a:off x="2373923" y="1755656"/>
            <a:ext cx="8484211" cy="4330116"/>
          </a:xfrm>
          <a:prstGeom prst="rect">
            <a:avLst/>
          </a:prstGeom>
        </p:spPr>
      </p:pic>
    </p:spTree>
    <p:extLst>
      <p:ext uri="{BB962C8B-B14F-4D97-AF65-F5344CB8AC3E}">
        <p14:creationId xmlns:p14="http://schemas.microsoft.com/office/powerpoint/2010/main" val="2333633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1749670" y="514594"/>
            <a:ext cx="8227768" cy="5514709"/>
          </a:xfrm>
          <a:prstGeom prst="rect">
            <a:avLst/>
          </a:prstGeom>
        </p:spPr>
      </p:pic>
    </p:spTree>
    <p:extLst>
      <p:ext uri="{BB962C8B-B14F-4D97-AF65-F5344CB8AC3E}">
        <p14:creationId xmlns:p14="http://schemas.microsoft.com/office/powerpoint/2010/main" val="1773040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838200" y="149469"/>
            <a:ext cx="10515600" cy="6611816"/>
          </a:xfrm>
        </p:spPr>
        <p:txBody>
          <a:bodyPr>
            <a:normAutofit fontScale="40000" lnSpcReduction="20000"/>
          </a:bodyPr>
          <a:lstStyle/>
          <a:p>
            <a:pPr marL="114300" indent="0" fontAlgn="base">
              <a:buNone/>
            </a:pPr>
            <a:r>
              <a:rPr lang="pt-BR" b="1" cap="all" dirty="0"/>
              <a:t>1 . Fale sobre o público</a:t>
            </a:r>
          </a:p>
          <a:p>
            <a:pPr fontAlgn="base"/>
            <a:r>
              <a:rPr lang="pt-BR" dirty="0"/>
              <a:t>Falar sobre detalhes da audiência mostra que você estudou, se importou e que conhece aquele público. Esse cuidado deixa a audiência feliz com o apresentador e aberta ao conteúdo da apresentação.</a:t>
            </a:r>
          </a:p>
          <a:p>
            <a:pPr fontAlgn="base"/>
            <a:r>
              <a:rPr lang="pt-BR" b="1" cap="all" dirty="0"/>
              <a:t>2 . Conte uma história de conexão</a:t>
            </a:r>
          </a:p>
          <a:p>
            <a:pPr fontAlgn="base"/>
            <a:r>
              <a:rPr lang="pt-BR" u="sng" dirty="0">
                <a:hlinkClick r:id="rId2"/>
              </a:rPr>
              <a:t>Histórias são cativantes</a:t>
            </a:r>
            <a:r>
              <a:rPr lang="pt-BR" dirty="0"/>
              <a:t>, convidativas e envolvem o público com facilidade, utilize-as na introdução da sua comunicação. Mas cuidado: não conte qualquer história. Você precisa descobrir uma que seja nova para essa plateia, que faça um “gancho” para o seu conteúdo e que tenha a ver com o seu público-alvo. Uma história infantil em uma apresentação para a diretoria não vai funcionar.</a:t>
            </a:r>
          </a:p>
          <a:p>
            <a:pPr fontAlgn="base"/>
            <a:r>
              <a:rPr lang="pt-BR" b="1" cap="all" dirty="0"/>
              <a:t>3 . Imagens e fotos impactantes</a:t>
            </a:r>
          </a:p>
          <a:p>
            <a:pPr fontAlgn="base"/>
            <a:r>
              <a:rPr lang="pt-BR" dirty="0"/>
              <a:t>Começar a apresentação com uma imagem impactante incentiva a imaginação da plateia e os ajuda a gravar melhor as mensagens. Lembre-se de buscar imagens com boa qualidade (</a:t>
            </a:r>
            <a:r>
              <a:rPr lang="pt-BR" u="sng" dirty="0">
                <a:hlinkClick r:id="rId3"/>
              </a:rPr>
              <a:t>veja esta lista com bancos de imagens gratuitos para a sua apresentação</a:t>
            </a:r>
            <a:r>
              <a:rPr lang="pt-BR" dirty="0"/>
              <a:t>), que não ofendam a plateia, e que sejam inéditas e criativas.</a:t>
            </a:r>
          </a:p>
          <a:p>
            <a:pPr fontAlgn="base"/>
            <a:r>
              <a:rPr lang="pt-BR" b="1" cap="all" dirty="0"/>
              <a:t>4 . Use o humor</a:t>
            </a:r>
          </a:p>
          <a:p>
            <a:pPr fontAlgn="base"/>
            <a:r>
              <a:rPr lang="pt-BR" dirty="0"/>
              <a:t>Começar a sua apresentação com uma anedota é um bom quebra-gelo. É importante dizer que esse recurso é mais difícil, porque acertar na piada em uma apresentação corporativa é complicado. Por isso, não foque em querer fazer o público rir, e sim em se conectar com eles e abrir a sua apresentação.</a:t>
            </a:r>
          </a:p>
          <a:p>
            <a:pPr fontAlgn="base"/>
            <a:r>
              <a:rPr lang="pt-BR" b="1" cap="all" dirty="0"/>
              <a:t>5 . Faça uma pergunta retórica provocativa</a:t>
            </a:r>
          </a:p>
          <a:p>
            <a:pPr fontAlgn="base"/>
            <a:r>
              <a:rPr lang="pt-BR" dirty="0"/>
              <a:t>Uma pergunta retórica não tem objetivo de alcançar uma resposta, e sim fazer o interlocutor refletir sobre um determinado assunto. Você pode inserir uma pergunta na introdução da sua apresentação. Mas não espere nenhum tipo de resposta. Como explicado acima, esse tipo de recurso não depende da interação do público, você já deve estar preparado para continuar logo depois de fazer a questão. Quando bem colocada, o uso da pergunta retórica é importante para conduzir a audiência a concordar com a posição adotada pelo apresentador.</a:t>
            </a:r>
          </a:p>
          <a:p>
            <a:pPr fontAlgn="base"/>
            <a:r>
              <a:rPr lang="pt-BR" b="1" cap="all" dirty="0"/>
              <a:t>6 . Tenha um artefato</a:t>
            </a:r>
          </a:p>
          <a:p>
            <a:pPr fontAlgn="base"/>
            <a:r>
              <a:rPr lang="pt-BR" dirty="0"/>
              <a:t>Usar um objeto físico pode fazer toda a diferença na introdução de uma apresentação impactante. Pode ser um produto da empresa, a carta do presidente, ou até malabares. O que você achar que faz sentido para a mensagem da apresentação.</a:t>
            </a:r>
          </a:p>
          <a:p>
            <a:pPr fontAlgn="base"/>
            <a:r>
              <a:rPr lang="pt-BR" b="1" cap="all" dirty="0"/>
              <a:t>7 . Use uma citação relevante</a:t>
            </a:r>
          </a:p>
          <a:p>
            <a:pPr fontAlgn="base"/>
            <a:r>
              <a:rPr lang="pt-BR" dirty="0"/>
              <a:t>Citações quase sempre fazem sucesso. Apenas tome cuidado com aquelas muito batidas e que todos já conhecem. Também é importante buscar frases que tenham conexão com a realidade da plateia. Frases do Steve Jobs são criativas, mas talvez para um </a:t>
            </a:r>
            <a:r>
              <a:rPr lang="pt-BR" dirty="0" err="1"/>
              <a:t>board</a:t>
            </a:r>
            <a:r>
              <a:rPr lang="pt-BR" dirty="0"/>
              <a:t> de investidores não funcionem bem.</a:t>
            </a:r>
          </a:p>
          <a:p>
            <a:pPr fontAlgn="base"/>
            <a:r>
              <a:rPr lang="pt-BR" b="1" cap="all" dirty="0"/>
              <a:t>8 . Inicie com uma notícia chocante</a:t>
            </a:r>
          </a:p>
          <a:p>
            <a:pPr fontAlgn="base"/>
            <a:r>
              <a:rPr lang="pt-BR" dirty="0"/>
              <a:t>Esse tipo de recurso sempre conquista a atenção. Mas, para isso, a notícia tem que ser sobre algum assunto que esteja dentro das preocupações do público-alvo. Começar com uma notícia traz o público para próximo do assunto, e facilita a conexão com o apresentador.</a:t>
            </a:r>
          </a:p>
          <a:p>
            <a:pPr fontAlgn="base"/>
            <a:r>
              <a:rPr lang="pt-BR" b="1" cap="all" dirty="0"/>
              <a:t>9 . Comece pela conclusão</a:t>
            </a:r>
          </a:p>
          <a:p>
            <a:pPr fontAlgn="base"/>
            <a:r>
              <a:rPr lang="pt-BR" dirty="0"/>
              <a:t>Se você tem uma conclusão bombástica, comece por ela. Assim, você mostra ao que veio, faz a conexão com o público e depois trabalha para colocar os argumentos para endossar essa conclusão. Use apenas quando a sua conclusão for boa.</a:t>
            </a:r>
          </a:p>
          <a:p>
            <a:pPr fontAlgn="base"/>
            <a:r>
              <a:rPr lang="pt-BR" b="1" cap="all" dirty="0"/>
              <a:t>10 . Passe um vídeo curto</a:t>
            </a:r>
          </a:p>
          <a:p>
            <a:endParaRPr lang="pt-BR" dirty="0"/>
          </a:p>
        </p:txBody>
      </p:sp>
    </p:spTree>
    <p:extLst>
      <p:ext uri="{BB962C8B-B14F-4D97-AF65-F5344CB8AC3E}">
        <p14:creationId xmlns:p14="http://schemas.microsoft.com/office/powerpoint/2010/main" val="308919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A FASE DA APRESENTAÇÃO ORAL</a:t>
            </a:r>
            <a:endParaRPr/>
          </a:p>
        </p:txBody>
      </p:sp>
      <p:sp>
        <p:nvSpPr>
          <p:cNvPr id="138" name="Google Shape;138;p9"/>
          <p:cNvSpPr txBox="1">
            <a:spLocks noGrp="1"/>
          </p:cNvSpPr>
          <p:nvPr>
            <p:ph type="body" idx="1"/>
          </p:nvPr>
        </p:nvSpPr>
        <p:spPr>
          <a:xfrm>
            <a:off x="838200" y="1825625"/>
            <a:ext cx="711708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t>A apresentação tem que ser entendida como uma </a:t>
            </a:r>
            <a:r>
              <a:rPr lang="pt-BR" dirty="0">
                <a:solidFill>
                  <a:srgbClr val="FF0000"/>
                </a:solidFill>
              </a:rPr>
              <a:t>socialização</a:t>
            </a:r>
            <a:r>
              <a:rPr lang="pt-BR" dirty="0"/>
              <a:t> do </a:t>
            </a:r>
            <a:r>
              <a:rPr lang="pt-BR" dirty="0">
                <a:solidFill>
                  <a:srgbClr val="FF0000"/>
                </a:solidFill>
              </a:rPr>
              <a:t>conhecimento</a:t>
            </a:r>
            <a:r>
              <a:rPr lang="pt-BR" dirty="0"/>
              <a:t>, não apenas uma obrigação.</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pt-BR" dirty="0"/>
              <a:t>Pensa no teu </a:t>
            </a:r>
            <a:r>
              <a:rPr lang="pt-BR" dirty="0">
                <a:solidFill>
                  <a:srgbClr val="FF0000"/>
                </a:solidFill>
              </a:rPr>
              <a:t>interlocutor</a:t>
            </a:r>
            <a:r>
              <a:rPr lang="pt-BR" dirty="0"/>
              <a:t>. O que ele já sabe, o que ele pode acrescentar.</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139" name="Google Shape;139;p9"/>
          <p:cNvPicPr preferRelativeResize="0"/>
          <p:nvPr/>
        </p:nvPicPr>
        <p:blipFill rotWithShape="1">
          <a:blip r:embed="rId3">
            <a:alphaModFix/>
          </a:blip>
          <a:srcRect/>
          <a:stretch/>
        </p:blipFill>
        <p:spPr>
          <a:xfrm>
            <a:off x="7955281" y="1690688"/>
            <a:ext cx="3963698" cy="35846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Técnicas de apresentação oral</a:t>
            </a:r>
            <a:endParaRPr/>
          </a:p>
        </p:txBody>
      </p:sp>
      <p:sp>
        <p:nvSpPr>
          <p:cNvPr id="145" name="Google Shape;145;p10"/>
          <p:cNvSpPr txBox="1">
            <a:spLocks noGrp="1"/>
          </p:cNvSpPr>
          <p:nvPr>
            <p:ph type="body" idx="1"/>
          </p:nvPr>
        </p:nvSpPr>
        <p:spPr>
          <a:xfrm>
            <a:off x="838200" y="1825624"/>
            <a:ext cx="10515600" cy="497082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a:solidFill>
                  <a:srgbClr val="FF0000"/>
                </a:solidFill>
              </a:rPr>
              <a:t>Domínio</a:t>
            </a:r>
            <a:r>
              <a:rPr lang="pt-BR" dirty="0"/>
              <a:t> do </a:t>
            </a:r>
            <a:r>
              <a:rPr lang="pt-BR" dirty="0">
                <a:solidFill>
                  <a:srgbClr val="FF0000"/>
                </a:solidFill>
              </a:rPr>
              <a:t>tema</a:t>
            </a:r>
            <a:r>
              <a:rPr lang="pt-BR" dirty="0"/>
              <a:t> e do tópico (visão geral e do detalhe</a:t>
            </a:r>
            <a:r>
              <a:rPr lang="pt-BR" dirty="0" smtClean="0"/>
              <a:t>);</a:t>
            </a:r>
          </a:p>
          <a:p>
            <a:pPr marL="228600" lvl="0" indent="-228600" algn="l" rtl="0">
              <a:lnSpc>
                <a:spcPct val="90000"/>
              </a:lnSpc>
              <a:spcBef>
                <a:spcPts val="0"/>
              </a:spcBef>
              <a:spcAft>
                <a:spcPts val="0"/>
              </a:spcAft>
              <a:buClr>
                <a:schemeClr val="dk1"/>
              </a:buClr>
              <a:buSzPts val="2800"/>
              <a:buChar char="•"/>
            </a:pPr>
            <a:endParaRPr dirty="0"/>
          </a:p>
          <a:p>
            <a:pPr marL="228600" lvl="0" indent="-228600" algn="l" rtl="0">
              <a:lnSpc>
                <a:spcPct val="90000"/>
              </a:lnSpc>
              <a:spcBef>
                <a:spcPts val="1000"/>
              </a:spcBef>
              <a:spcAft>
                <a:spcPts val="0"/>
              </a:spcAft>
              <a:buClr>
                <a:schemeClr val="dk1"/>
              </a:buClr>
              <a:buSzPts val="2800"/>
              <a:buChar char="•"/>
            </a:pPr>
            <a:r>
              <a:rPr lang="pt-BR" dirty="0"/>
              <a:t>Fala </a:t>
            </a:r>
            <a:r>
              <a:rPr lang="pt-BR" dirty="0">
                <a:solidFill>
                  <a:srgbClr val="FF0000"/>
                </a:solidFill>
              </a:rPr>
              <a:t>fluente</a:t>
            </a:r>
            <a:r>
              <a:rPr lang="pt-BR" dirty="0"/>
              <a:t> e </a:t>
            </a:r>
            <a:r>
              <a:rPr lang="pt-BR" dirty="0">
                <a:solidFill>
                  <a:srgbClr val="FF0000"/>
                </a:solidFill>
              </a:rPr>
              <a:t>espontânea</a:t>
            </a:r>
            <a:r>
              <a:rPr lang="pt-BR" dirty="0"/>
              <a:t> – sem leitura do texto ou exposição decorada</a:t>
            </a:r>
            <a:r>
              <a:rPr lang="pt-BR" dirty="0" smtClean="0"/>
              <a:t>;</a:t>
            </a:r>
          </a:p>
          <a:p>
            <a:pPr marL="228600" lvl="0" indent="-228600" algn="l" rtl="0">
              <a:lnSpc>
                <a:spcPct val="90000"/>
              </a:lnSpc>
              <a:spcBef>
                <a:spcPts val="1000"/>
              </a:spcBef>
              <a:spcAft>
                <a:spcPts val="0"/>
              </a:spcAft>
              <a:buClr>
                <a:schemeClr val="dk1"/>
              </a:buClr>
              <a:buSzPts val="2800"/>
              <a:buChar char="•"/>
            </a:pPr>
            <a:endParaRPr dirty="0"/>
          </a:p>
          <a:p>
            <a:pPr marL="228600" lvl="0" indent="-228600" algn="l" rtl="0">
              <a:lnSpc>
                <a:spcPct val="90000"/>
              </a:lnSpc>
              <a:spcBef>
                <a:spcPts val="1000"/>
              </a:spcBef>
              <a:spcAft>
                <a:spcPts val="0"/>
              </a:spcAft>
              <a:buClr>
                <a:schemeClr val="dk1"/>
              </a:buClr>
              <a:buSzPts val="2800"/>
              <a:buChar char="•"/>
            </a:pPr>
            <a:r>
              <a:rPr lang="pt-BR" dirty="0" smtClean="0"/>
              <a:t>Exposição </a:t>
            </a:r>
            <a:r>
              <a:rPr lang="pt-BR" dirty="0"/>
              <a:t>do assunto dentro de uma </a:t>
            </a:r>
            <a:r>
              <a:rPr lang="pt-BR" dirty="0">
                <a:solidFill>
                  <a:srgbClr val="FF0000"/>
                </a:solidFill>
              </a:rPr>
              <a:t>sequência</a:t>
            </a:r>
            <a:r>
              <a:rPr lang="pt-BR" dirty="0"/>
              <a:t> </a:t>
            </a:r>
            <a:r>
              <a:rPr lang="pt-BR" dirty="0">
                <a:solidFill>
                  <a:srgbClr val="FF0000"/>
                </a:solidFill>
              </a:rPr>
              <a:t>lógica</a:t>
            </a:r>
            <a:r>
              <a:rPr lang="pt-BR" dirty="0" smtClean="0"/>
              <a:t>;</a:t>
            </a:r>
          </a:p>
          <a:p>
            <a:pPr marL="228600" lvl="0" indent="-228600" algn="l" rtl="0">
              <a:lnSpc>
                <a:spcPct val="90000"/>
              </a:lnSpc>
              <a:spcBef>
                <a:spcPts val="1000"/>
              </a:spcBef>
              <a:spcAft>
                <a:spcPts val="0"/>
              </a:spcAft>
              <a:buClr>
                <a:schemeClr val="dk1"/>
              </a:buClr>
              <a:buSzPts val="2800"/>
              <a:buChar char="•"/>
            </a:pPr>
            <a:endParaRPr dirty="0"/>
          </a:p>
          <a:p>
            <a:pPr marL="228600" lvl="0" indent="-228600" algn="l" rtl="0">
              <a:lnSpc>
                <a:spcPct val="90000"/>
              </a:lnSpc>
              <a:spcBef>
                <a:spcPts val="1000"/>
              </a:spcBef>
              <a:spcAft>
                <a:spcPts val="0"/>
              </a:spcAft>
              <a:buClr>
                <a:schemeClr val="dk1"/>
              </a:buClr>
              <a:buSzPts val="2800"/>
              <a:buChar char="•"/>
            </a:pPr>
            <a:r>
              <a:rPr lang="pt-BR" dirty="0"/>
              <a:t>Preparo do </a:t>
            </a:r>
            <a:r>
              <a:rPr lang="pt-BR" dirty="0">
                <a:solidFill>
                  <a:srgbClr val="FF0000"/>
                </a:solidFill>
              </a:rPr>
              <a:t>encadeamento</a:t>
            </a:r>
            <a:r>
              <a:rPr lang="pt-BR" dirty="0"/>
              <a:t> para o próximo </a:t>
            </a:r>
            <a:r>
              <a:rPr lang="pt-BR" dirty="0" smtClean="0"/>
              <a:t>tópico</a:t>
            </a:r>
          </a:p>
          <a:p>
            <a:pPr marL="228600" lvl="0" indent="-228600" algn="l" rtl="0">
              <a:lnSpc>
                <a:spcPct val="90000"/>
              </a:lnSpc>
              <a:spcBef>
                <a:spcPts val="1000"/>
              </a:spcBef>
              <a:spcAft>
                <a:spcPts val="0"/>
              </a:spcAft>
              <a:buClr>
                <a:schemeClr val="dk1"/>
              </a:buClr>
              <a:buSzPts val="2800"/>
              <a:buChar char="•"/>
            </a:pPr>
            <a:endParaRPr dirty="0"/>
          </a:p>
          <a:p>
            <a:pPr marL="228600" lvl="0" indent="-228600" algn="l" rtl="0">
              <a:lnSpc>
                <a:spcPct val="90000"/>
              </a:lnSpc>
              <a:spcBef>
                <a:spcPts val="1000"/>
              </a:spcBef>
              <a:spcAft>
                <a:spcPts val="0"/>
              </a:spcAft>
              <a:buClr>
                <a:schemeClr val="dk1"/>
              </a:buClr>
              <a:buSzPts val="2800"/>
              <a:buChar char="•"/>
            </a:pPr>
            <a:r>
              <a:rPr lang="pt-BR" dirty="0"/>
              <a:t>Uso </a:t>
            </a:r>
            <a:r>
              <a:rPr lang="pt-BR" dirty="0">
                <a:solidFill>
                  <a:srgbClr val="FF0000"/>
                </a:solidFill>
              </a:rPr>
              <a:t>correto</a:t>
            </a:r>
            <a:r>
              <a:rPr lang="pt-BR" dirty="0"/>
              <a:t> do </a:t>
            </a:r>
            <a:r>
              <a:rPr lang="pt-BR" dirty="0">
                <a:solidFill>
                  <a:srgbClr val="FF0000"/>
                </a:solidFill>
              </a:rPr>
              <a:t>tempo</a:t>
            </a:r>
            <a:r>
              <a:rPr lang="pt-BR" dirty="0"/>
              <a:t> pré-estabelecido</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Texto 2"/>
          <p:cNvSpPr>
            <a:spLocks noGrp="1"/>
          </p:cNvSpPr>
          <p:nvPr>
            <p:ph type="body" idx="1"/>
          </p:nvPr>
        </p:nvSpPr>
        <p:spPr/>
        <p:txBody>
          <a:bodyPr/>
          <a:lstStyle/>
          <a:p>
            <a:endParaRPr lang="pt-BR"/>
          </a:p>
        </p:txBody>
      </p:sp>
      <p:pic>
        <p:nvPicPr>
          <p:cNvPr id="4" name="Imagem 3"/>
          <p:cNvPicPr>
            <a:picLocks noChangeAspect="1"/>
          </p:cNvPicPr>
          <p:nvPr/>
        </p:nvPicPr>
        <p:blipFill>
          <a:blip r:embed="rId2"/>
          <a:stretch>
            <a:fillRect/>
          </a:stretch>
        </p:blipFill>
        <p:spPr>
          <a:xfrm>
            <a:off x="1732084" y="1027906"/>
            <a:ext cx="7729537" cy="4892808"/>
          </a:xfrm>
          <a:prstGeom prst="rect">
            <a:avLst/>
          </a:prstGeom>
        </p:spPr>
      </p:pic>
    </p:spTree>
    <p:extLst>
      <p:ext uri="{BB962C8B-B14F-4D97-AF65-F5344CB8AC3E}">
        <p14:creationId xmlns:p14="http://schemas.microsoft.com/office/powerpoint/2010/main" val="2380332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Vamos analisar algumas...</a:t>
            </a:r>
            <a:endParaRPr lang="pt-BR" dirty="0"/>
          </a:p>
        </p:txBody>
      </p:sp>
      <p:sp>
        <p:nvSpPr>
          <p:cNvPr id="3" name="Espaço Reservado para Texto 2"/>
          <p:cNvSpPr>
            <a:spLocks noGrp="1"/>
          </p:cNvSpPr>
          <p:nvPr>
            <p:ph type="body" idx="1"/>
          </p:nvPr>
        </p:nvSpPr>
        <p:spPr/>
        <p:txBody>
          <a:bodyPr/>
          <a:lstStyle/>
          <a:p>
            <a:r>
              <a:rPr lang="pt-BR" dirty="0"/>
              <a:t>https://profissionaissa.com/blog/palestras/melhores-ted-talks/</a:t>
            </a:r>
          </a:p>
        </p:txBody>
      </p:sp>
    </p:spTree>
    <p:extLst>
      <p:ext uri="{BB962C8B-B14F-4D97-AF65-F5344CB8AC3E}">
        <p14:creationId xmlns:p14="http://schemas.microsoft.com/office/powerpoint/2010/main" val="2967402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SÁTIRA</a:t>
            </a:r>
            <a:endParaRPr lang="pt-BR" dirty="0"/>
          </a:p>
        </p:txBody>
      </p:sp>
      <p:sp>
        <p:nvSpPr>
          <p:cNvPr id="3" name="Espaço Reservado para Texto 2"/>
          <p:cNvSpPr>
            <a:spLocks noGrp="1"/>
          </p:cNvSpPr>
          <p:nvPr>
            <p:ph type="body" idx="1"/>
          </p:nvPr>
        </p:nvSpPr>
        <p:spPr/>
        <p:txBody>
          <a:bodyPr/>
          <a:lstStyle/>
          <a:p>
            <a:r>
              <a:rPr lang="pt-BR" dirty="0"/>
              <a:t>https://www.youtube.com/watch?v=8S0FDjFBj8o&amp;ab_channel=TEDxTalks</a:t>
            </a:r>
          </a:p>
        </p:txBody>
      </p:sp>
      <p:pic>
        <p:nvPicPr>
          <p:cNvPr id="4" name="Imagem 3"/>
          <p:cNvPicPr>
            <a:picLocks noChangeAspect="1"/>
          </p:cNvPicPr>
          <p:nvPr/>
        </p:nvPicPr>
        <p:blipFill>
          <a:blip r:embed="rId2"/>
          <a:stretch>
            <a:fillRect/>
          </a:stretch>
        </p:blipFill>
        <p:spPr>
          <a:xfrm>
            <a:off x="5882424" y="2597760"/>
            <a:ext cx="5385285" cy="4137147"/>
          </a:xfrm>
          <a:prstGeom prst="rect">
            <a:avLst/>
          </a:prstGeom>
        </p:spPr>
      </p:pic>
    </p:spTree>
    <p:extLst>
      <p:ext uri="{BB962C8B-B14F-4D97-AF65-F5344CB8AC3E}">
        <p14:creationId xmlns:p14="http://schemas.microsoft.com/office/powerpoint/2010/main" val="401624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Estruturando a apresentação</a:t>
            </a:r>
            <a:endParaRPr lang="pt-BR" dirty="0"/>
          </a:p>
        </p:txBody>
      </p:sp>
      <p:sp>
        <p:nvSpPr>
          <p:cNvPr id="3" name="Espaço Reservado para Texto 2"/>
          <p:cNvSpPr>
            <a:spLocks noGrp="1"/>
          </p:cNvSpPr>
          <p:nvPr>
            <p:ph type="body" idx="1"/>
          </p:nvPr>
        </p:nvSpPr>
        <p:spPr/>
        <p:txBody>
          <a:bodyPr/>
          <a:lstStyle/>
          <a:p>
            <a:r>
              <a:rPr lang="pt-BR" dirty="0">
                <a:hlinkClick r:id="rId2"/>
              </a:rPr>
              <a:t>https://</a:t>
            </a:r>
            <a:r>
              <a:rPr lang="pt-BR" dirty="0" smtClean="0">
                <a:hlinkClick r:id="rId2"/>
              </a:rPr>
              <a:t>www.youtube.com/watch?v=20fD6h7j6Wc&amp;ab_channel=Educa%C3%A7%C3%A3oemRedeUFSB</a:t>
            </a:r>
            <a:endParaRPr lang="pt-BR" dirty="0" smtClean="0"/>
          </a:p>
          <a:p>
            <a:endParaRPr lang="pt-BR" dirty="0"/>
          </a:p>
          <a:p>
            <a:r>
              <a:rPr lang="pt-BR" dirty="0">
                <a:hlinkClick r:id="rId3"/>
              </a:rPr>
              <a:t>https://</a:t>
            </a:r>
            <a:r>
              <a:rPr lang="pt-BR" dirty="0" smtClean="0">
                <a:hlinkClick r:id="rId3"/>
              </a:rPr>
              <a:t>www.youtube.com/watch?v=9p1kfkpsYzQ&amp;ab_channel=Englishing</a:t>
            </a:r>
            <a:endParaRPr lang="pt-BR" dirty="0" smtClean="0"/>
          </a:p>
          <a:p>
            <a:endParaRPr lang="pt-BR" dirty="0"/>
          </a:p>
          <a:p>
            <a:endParaRPr lang="pt-BR" dirty="0"/>
          </a:p>
        </p:txBody>
      </p:sp>
    </p:spTree>
    <p:extLst>
      <p:ext uri="{BB962C8B-B14F-4D97-AF65-F5344CB8AC3E}">
        <p14:creationId xmlns:p14="http://schemas.microsoft.com/office/powerpoint/2010/main" val="1159143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dirty="0"/>
              <a:t>Proposta de </a:t>
            </a:r>
            <a:r>
              <a:rPr lang="pt-BR" dirty="0" smtClean="0"/>
              <a:t>Avaliação 3</a:t>
            </a:r>
            <a:endParaRPr dirty="0"/>
          </a:p>
        </p:txBody>
      </p:sp>
      <p:sp>
        <p:nvSpPr>
          <p:cNvPr id="151" name="Google Shape;15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pt-BR" dirty="0" smtClean="0"/>
              <a:t>Temas de interesse?</a:t>
            </a:r>
          </a:p>
          <a:p>
            <a:pPr marL="228600" lvl="0" indent="-228600" algn="l" rtl="0">
              <a:lnSpc>
                <a:spcPct val="90000"/>
              </a:lnSpc>
              <a:spcBef>
                <a:spcPts val="0"/>
              </a:spcBef>
              <a:spcAft>
                <a:spcPts val="0"/>
              </a:spcAft>
              <a:buClr>
                <a:schemeClr val="dk1"/>
              </a:buClr>
              <a:buSzPts val="2800"/>
              <a:buChar char="•"/>
            </a:pPr>
            <a:endParaRPr lang="pt-BR" dirty="0"/>
          </a:p>
          <a:p>
            <a:pPr marL="228600" lvl="0" indent="-228600" algn="l" rtl="0">
              <a:lnSpc>
                <a:spcPct val="90000"/>
              </a:lnSpc>
              <a:spcBef>
                <a:spcPts val="0"/>
              </a:spcBef>
              <a:spcAft>
                <a:spcPts val="0"/>
              </a:spcAft>
              <a:buClr>
                <a:schemeClr val="dk1"/>
              </a:buClr>
              <a:buSzPts val="2800"/>
              <a:buChar char="•"/>
            </a:pPr>
            <a:endParaRPr lang="pt-BR" dirty="0" smtClean="0"/>
          </a:p>
          <a:p>
            <a:pPr marL="228600" lvl="0" indent="-228600" algn="l" rtl="0">
              <a:lnSpc>
                <a:spcPct val="90000"/>
              </a:lnSpc>
              <a:spcBef>
                <a:spcPts val="0"/>
              </a:spcBef>
              <a:spcAft>
                <a:spcPts val="0"/>
              </a:spcAft>
              <a:buClr>
                <a:schemeClr val="dk1"/>
              </a:buClr>
              <a:buSzPts val="2800"/>
              <a:buChar char="•"/>
            </a:pPr>
            <a:endParaRPr lang="pt-BR" dirty="0"/>
          </a:p>
          <a:p>
            <a:pPr marL="228600" lvl="0" indent="-228600" algn="l" rtl="0">
              <a:lnSpc>
                <a:spcPct val="90000"/>
              </a:lnSpc>
              <a:spcBef>
                <a:spcPts val="0"/>
              </a:spcBef>
              <a:spcAft>
                <a:spcPts val="0"/>
              </a:spcAft>
              <a:buClr>
                <a:schemeClr val="dk1"/>
              </a:buClr>
              <a:buSzPts val="2800"/>
              <a:buChar char="•"/>
            </a:pPr>
            <a:r>
              <a:rPr lang="pt-BR" dirty="0" smtClean="0"/>
              <a:t>Soluções para problemas!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pt-BR"/>
              <a:t>CRITÉRIOS</a:t>
            </a:r>
            <a:endParaRPr/>
          </a:p>
        </p:txBody>
      </p:sp>
      <p:graphicFrame>
        <p:nvGraphicFramePr>
          <p:cNvPr id="157" name="Google Shape;157;p12"/>
          <p:cNvGraphicFramePr/>
          <p:nvPr>
            <p:extLst>
              <p:ext uri="{D42A27DB-BD31-4B8C-83A1-F6EECF244321}">
                <p14:modId xmlns:p14="http://schemas.microsoft.com/office/powerpoint/2010/main" val="4213122810"/>
              </p:ext>
            </p:extLst>
          </p:nvPr>
        </p:nvGraphicFramePr>
        <p:xfrm>
          <a:off x="1795549" y="1785122"/>
          <a:ext cx="8060800" cy="3102800"/>
        </p:xfrm>
        <a:graphic>
          <a:graphicData uri="http://schemas.openxmlformats.org/drawingml/2006/table">
            <a:tbl>
              <a:tblPr firstRow="1" firstCol="1" bandRow="1">
                <a:noFill/>
                <a:tableStyleId>{535E8B4C-8078-4035-BF47-5B72E9595A8D}</a:tableStyleId>
              </a:tblPr>
              <a:tblGrid>
                <a:gridCol w="761675">
                  <a:extLst>
                    <a:ext uri="{9D8B030D-6E8A-4147-A177-3AD203B41FA5}">
                      <a16:colId xmlns:a16="http://schemas.microsoft.com/office/drawing/2014/main" val="20000"/>
                    </a:ext>
                  </a:extLst>
                </a:gridCol>
                <a:gridCol w="5463550">
                  <a:extLst>
                    <a:ext uri="{9D8B030D-6E8A-4147-A177-3AD203B41FA5}">
                      <a16:colId xmlns:a16="http://schemas.microsoft.com/office/drawing/2014/main" val="20001"/>
                    </a:ext>
                  </a:extLst>
                </a:gridCol>
                <a:gridCol w="1835575">
                  <a:extLst>
                    <a:ext uri="{9D8B030D-6E8A-4147-A177-3AD203B41FA5}">
                      <a16:colId xmlns:a16="http://schemas.microsoft.com/office/drawing/2014/main" val="20002"/>
                    </a:ext>
                  </a:extLst>
                </a:gridCol>
              </a:tblGrid>
              <a:tr h="387850">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CRITÉRIO</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NOTA</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0"/>
                  </a:ext>
                </a:extLst>
              </a:tr>
              <a:tr h="387850">
                <a:tc>
                  <a:txBody>
                    <a:bodyPr/>
                    <a:lstStyle/>
                    <a:p>
                      <a:pPr marL="0" marR="0" lvl="0" indent="0" algn="l" rtl="0">
                        <a:lnSpc>
                          <a:spcPct val="120000"/>
                        </a:lnSpc>
                        <a:spcBef>
                          <a:spcPts val="0"/>
                        </a:spcBef>
                        <a:spcAft>
                          <a:spcPts val="0"/>
                        </a:spcAft>
                        <a:buNone/>
                      </a:pPr>
                      <a:r>
                        <a:rPr lang="pt-BR" sz="1200" u="none" strike="noStrike" cap="none"/>
                        <a:t>1</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APRESENTAÇÃO INTRODUTÓRIA </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1"/>
                  </a:ext>
                </a:extLst>
              </a:tr>
              <a:tr h="387850">
                <a:tc>
                  <a:txBody>
                    <a:bodyPr/>
                    <a:lstStyle/>
                    <a:p>
                      <a:pPr marL="0" marR="0" lvl="0" indent="0" algn="l" rtl="0">
                        <a:lnSpc>
                          <a:spcPct val="120000"/>
                        </a:lnSpc>
                        <a:spcBef>
                          <a:spcPts val="0"/>
                        </a:spcBef>
                        <a:spcAft>
                          <a:spcPts val="0"/>
                        </a:spcAft>
                        <a:buNone/>
                      </a:pPr>
                      <a:r>
                        <a:rPr lang="pt-BR" sz="1200" u="none" strike="noStrike" cap="none"/>
                        <a:t>2</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PERTINÊNCIA DOS CONCEITOS</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387850">
                <a:tc>
                  <a:txBody>
                    <a:bodyPr/>
                    <a:lstStyle/>
                    <a:p>
                      <a:pPr marL="0" marR="0" lvl="0" indent="0" algn="l" rtl="0">
                        <a:lnSpc>
                          <a:spcPct val="120000"/>
                        </a:lnSpc>
                        <a:spcBef>
                          <a:spcPts val="0"/>
                        </a:spcBef>
                        <a:spcAft>
                          <a:spcPts val="0"/>
                        </a:spcAft>
                        <a:buNone/>
                      </a:pPr>
                      <a:r>
                        <a:rPr lang="pt-BR" sz="1200" u="none" strike="noStrike" cap="none"/>
                        <a:t>3</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dirty="0"/>
                        <a:t>QUALIDADE DOS CONTEÚDOS (EXEMPLO, ETC..)</a:t>
                      </a:r>
                      <a:endParaRPr sz="1200" u="none" strike="noStrike" cap="none" dirty="0">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r h="387850">
                <a:tc>
                  <a:txBody>
                    <a:bodyPr/>
                    <a:lstStyle/>
                    <a:p>
                      <a:pPr marL="0" marR="0" lvl="0" indent="0" algn="l" rtl="0">
                        <a:lnSpc>
                          <a:spcPct val="120000"/>
                        </a:lnSpc>
                        <a:spcBef>
                          <a:spcPts val="0"/>
                        </a:spcBef>
                        <a:spcAft>
                          <a:spcPts val="0"/>
                        </a:spcAft>
                        <a:buNone/>
                      </a:pPr>
                      <a:r>
                        <a:rPr lang="pt-BR" sz="1200" u="none" strike="noStrike" cap="none"/>
                        <a:t>4</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dirty="0"/>
                        <a:t>QUALIDADE DOS </a:t>
                      </a:r>
                      <a:r>
                        <a:rPr lang="pt-BR" sz="1200" u="none" strike="noStrike" cap="none" dirty="0" smtClean="0"/>
                        <a:t>RECURSOS E FALA</a:t>
                      </a:r>
                      <a:endParaRPr sz="1200" u="none" strike="noStrike" cap="none" dirty="0">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4"/>
                  </a:ext>
                </a:extLst>
              </a:tr>
              <a:tr h="387850">
                <a:tc>
                  <a:txBody>
                    <a:bodyPr/>
                    <a:lstStyle/>
                    <a:p>
                      <a:pPr marL="0" marR="0" lvl="0" indent="0" algn="l" rtl="0">
                        <a:lnSpc>
                          <a:spcPct val="120000"/>
                        </a:lnSpc>
                        <a:spcBef>
                          <a:spcPts val="0"/>
                        </a:spcBef>
                        <a:spcAft>
                          <a:spcPts val="0"/>
                        </a:spcAft>
                        <a:buNone/>
                      </a:pPr>
                      <a:r>
                        <a:rPr lang="pt-BR" sz="1200" u="none" strike="noStrike" cap="none"/>
                        <a:t>5</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dirty="0"/>
                        <a:t>COESÃO ENTRE </a:t>
                      </a:r>
                      <a:r>
                        <a:rPr lang="pt-BR" sz="1200" u="none" strike="noStrike" cap="none" dirty="0" smtClean="0"/>
                        <a:t>AS PARTES</a:t>
                      </a:r>
                      <a:endParaRPr sz="1200" u="none" strike="noStrike" cap="none" dirty="0">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5"/>
                  </a:ext>
                </a:extLst>
              </a:tr>
              <a:tr h="387850">
                <a:tc>
                  <a:txBody>
                    <a:bodyPr/>
                    <a:lstStyle/>
                    <a:p>
                      <a:pPr marL="0" marR="0" lvl="0" indent="0" algn="l" rtl="0">
                        <a:lnSpc>
                          <a:spcPct val="120000"/>
                        </a:lnSpc>
                        <a:spcBef>
                          <a:spcPts val="0"/>
                        </a:spcBef>
                        <a:spcAft>
                          <a:spcPts val="0"/>
                        </a:spcAft>
                        <a:buNone/>
                      </a:pPr>
                      <a:r>
                        <a:rPr lang="pt-BR" sz="1200" u="none" strike="noStrike" cap="none"/>
                        <a:t>6</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APRESENTRAÇÃO ORAL E RIGOR COM O TEMPO</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 </a:t>
                      </a:r>
                      <a:endParaRPr sz="12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6"/>
                  </a:ext>
                </a:extLst>
              </a:tr>
              <a:tr h="387850">
                <a:tc>
                  <a:txBody>
                    <a:bodyPr/>
                    <a:lstStyle/>
                    <a:p>
                      <a:pPr marL="0" marR="0" lvl="0" indent="0" algn="l" rtl="0">
                        <a:lnSpc>
                          <a:spcPct val="120000"/>
                        </a:lnSpc>
                        <a:spcBef>
                          <a:spcPts val="0"/>
                        </a:spcBef>
                        <a:spcAft>
                          <a:spcPts val="0"/>
                        </a:spcAft>
                        <a:buNone/>
                      </a:pPr>
                      <a:r>
                        <a:rPr lang="pt-BR" sz="1200" u="none" strike="noStrike" cap="none"/>
                        <a:t>7</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a:t>CONCLUSÃO E RETOMADA</a:t>
                      </a:r>
                      <a:endParaRPr sz="1200" u="none" strike="noStrike" cap="none">
                        <a:latin typeface="Arial"/>
                        <a:ea typeface="Arial"/>
                        <a:cs typeface="Arial"/>
                        <a:sym typeface="Arial"/>
                      </a:endParaRPr>
                    </a:p>
                  </a:txBody>
                  <a:tcPr marL="68575" marR="68575" marT="0" marB="0"/>
                </a:tc>
                <a:tc>
                  <a:txBody>
                    <a:bodyPr/>
                    <a:lstStyle/>
                    <a:p>
                      <a:pPr marL="0" marR="0" lvl="0" indent="0" algn="l" rtl="0">
                        <a:lnSpc>
                          <a:spcPct val="120000"/>
                        </a:lnSpc>
                        <a:spcBef>
                          <a:spcPts val="0"/>
                        </a:spcBef>
                        <a:spcAft>
                          <a:spcPts val="0"/>
                        </a:spcAft>
                        <a:buNone/>
                      </a:pPr>
                      <a:r>
                        <a:rPr lang="pt-BR" sz="1200" u="none" strike="noStrike" cap="none" dirty="0"/>
                        <a:t> </a:t>
                      </a:r>
                      <a:endParaRPr sz="1200" u="none" strike="noStrike" cap="none" dirty="0">
                        <a:latin typeface="Arial"/>
                        <a:ea typeface="Arial"/>
                        <a:cs typeface="Arial"/>
                        <a:sym typeface="Arial"/>
                      </a:endParaRPr>
                    </a:p>
                  </a:txBody>
                  <a:tcPr marL="68575" marR="68575" marT="0" marB="0"/>
                </a:tc>
                <a:extLst>
                  <a:ext uri="{0D108BD9-81ED-4DB2-BD59-A6C34878D82A}">
                    <a16:rowId xmlns:a16="http://schemas.microsoft.com/office/drawing/2014/main" val="10007"/>
                  </a:ext>
                </a:extLst>
              </a:tr>
            </a:tbl>
          </a:graphicData>
        </a:graphic>
      </p:graphicFrame>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222</Words>
  <Application>Microsoft Office PowerPoint</Application>
  <PresentationFormat>Widescreen</PresentationFormat>
  <Paragraphs>94</Paragraphs>
  <Slides>18</Slides>
  <Notes>5</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18</vt:i4>
      </vt:variant>
    </vt:vector>
  </HeadingPairs>
  <TitlesOfParts>
    <vt:vector size="21" baseType="lpstr">
      <vt:lpstr>Arial</vt:lpstr>
      <vt:lpstr>Calibri</vt:lpstr>
      <vt:lpstr>Tema do Office</vt:lpstr>
      <vt:lpstr>APRESENTAÇÃO ORAL  </vt:lpstr>
      <vt:lpstr>Diferenças entre fala e escrita</vt:lpstr>
      <vt:lpstr>EXPOSIÇÃO ORAL</vt:lpstr>
      <vt:lpstr>APRESENTAÇÃO ORAL</vt:lpstr>
      <vt:lpstr>EXEMPLOS </vt:lpstr>
      <vt:lpstr>Apresentação do PowerPoint</vt:lpstr>
      <vt:lpstr>Apresentação do PowerPoint</vt:lpstr>
      <vt:lpstr>PLANEJAMENTO PRÉVIO – fase escrita</vt:lpstr>
      <vt:lpstr>Apresentação do PowerPoint</vt:lpstr>
      <vt:lpstr>Apresentação do PowerPoint</vt:lpstr>
      <vt:lpstr>A FASE DA APRESENTAÇÃO ORAL</vt:lpstr>
      <vt:lpstr>Técnicas de apresentação oral</vt:lpstr>
      <vt:lpstr>Apresentação do PowerPoint</vt:lpstr>
      <vt:lpstr>Vamos analisar algumas...</vt:lpstr>
      <vt:lpstr>SÁTIRA</vt:lpstr>
      <vt:lpstr>Estruturando a apresentação</vt:lpstr>
      <vt:lpstr>Proposta de Avaliação 3</vt:lpstr>
      <vt:lpstr>CRITÉRIOS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EXPOSIÇÃO ORAL  SEMINÁRIO ACADÊMICO</dc:title>
  <dc:creator>Anonimo</dc:creator>
  <cp:lastModifiedBy>Anonimo</cp:lastModifiedBy>
  <cp:revision>29</cp:revision>
  <dcterms:created xsi:type="dcterms:W3CDTF">2020-08-06T17:25:57Z</dcterms:created>
  <dcterms:modified xsi:type="dcterms:W3CDTF">2024-08-01T14:43:45Z</dcterms:modified>
</cp:coreProperties>
</file>