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5" r:id="rId10"/>
    <p:sldId id="266" r:id="rId11"/>
    <p:sldId id="267" r:id="rId12"/>
    <p:sldId id="268" r:id="rId13"/>
    <p:sldId id="273" r:id="rId14"/>
    <p:sldId id="269" r:id="rId15"/>
    <p:sldId id="270" r:id="rId16"/>
    <p:sldId id="271" r:id="rId17"/>
    <p:sldId id="263" r:id="rId18"/>
    <p:sldId id="264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K9tpJbaDHyooBrRrAJv1R5QKI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ale.ufal.br/projeto/nurcdigital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patricia_kuhl_the_linguistic_genius_of_babies?language=p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/>
              <a:t>Os </a:t>
            </a:r>
            <a:r>
              <a:rPr lang="pt-BR" u="sng" dirty="0"/>
              <a:t>gêneros</a:t>
            </a:r>
            <a:r>
              <a:rPr lang="pt-BR" dirty="0"/>
              <a:t> acadêmicos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Kayron Beviláqua (IFSC)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 TEORIA...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>
                <a:solidFill>
                  <a:srgbClr val="00B050"/>
                </a:solidFill>
              </a:rPr>
              <a:t>todas as atividades</a:t>
            </a:r>
            <a:r>
              <a:rPr lang="pt-BR" dirty="0"/>
              <a:t> humanas estão ligadas à</a:t>
            </a:r>
            <a:br>
              <a:rPr lang="pt-BR" dirty="0"/>
            </a:br>
            <a:r>
              <a:rPr lang="pt-BR" dirty="0"/>
              <a:t>utilização da </a:t>
            </a:r>
            <a:r>
              <a:rPr lang="pt-BR" dirty="0">
                <a:solidFill>
                  <a:srgbClr val="00B050"/>
                </a:solidFill>
              </a:rPr>
              <a:t>língua</a:t>
            </a:r>
            <a:r>
              <a:rPr lang="pt-BR" dirty="0"/>
              <a:t>, que se </a:t>
            </a:r>
            <a:r>
              <a:rPr lang="pt-BR" dirty="0">
                <a:solidFill>
                  <a:srgbClr val="00B050"/>
                </a:solidFill>
              </a:rPr>
              <a:t>materializa através dos chamados gêneros </a:t>
            </a:r>
            <a:r>
              <a:rPr lang="pt-BR" dirty="0"/>
              <a:t>textuais nas diferentes esferas da atividade humana.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Foco na interação dos sujeitos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		</a:t>
            </a:r>
            <a:r>
              <a:rPr lang="pt-BR" dirty="0">
                <a:solidFill>
                  <a:srgbClr val="FF0000"/>
                </a:solidFill>
              </a:rPr>
              <a:t>Versus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Estrutura da língua</a:t>
            </a:r>
            <a:br>
              <a:rPr lang="pt-BR" dirty="0"/>
            </a:br>
            <a:endParaRPr dirty="0"/>
          </a:p>
        </p:txBody>
      </p:sp>
      <p:pic>
        <p:nvPicPr>
          <p:cNvPr id="92" name="Google Shape;92;p2" descr="Mikhail Bakhtin, o filósofo do diálogo | Nova Esco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1338" y="3649287"/>
            <a:ext cx="3494494" cy="3076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 descr="A Linguística no ensino de Língua Portuguesa: o exemplo dos gêneros de  texto - Relatos Escolar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770" y="0"/>
            <a:ext cx="3933092" cy="6551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 descr="Gêneros Textuais Acadêmicos - YouTube"/>
          <p:cNvPicPr preferRelativeResize="0"/>
          <p:nvPr/>
        </p:nvPicPr>
        <p:blipFill rotWithShape="1">
          <a:blip r:embed="rId4">
            <a:alphaModFix/>
          </a:blip>
          <a:srcRect l="4832" t="23228"/>
          <a:stretch/>
        </p:blipFill>
        <p:spPr>
          <a:xfrm>
            <a:off x="4816586" y="1752774"/>
            <a:ext cx="6711546" cy="304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Dificuldades </a:t>
            </a:r>
            <a:r>
              <a:rPr lang="pt-BR" sz="1800"/>
              <a:t>(https://www.scielo.br/j/rbla/a/Ypm99GJVr7LyXsLsYyq7N7c/?lang=pt)</a:t>
            </a:r>
            <a:endParaRPr sz="1800"/>
          </a:p>
        </p:txBody>
      </p:sp>
      <p:pic>
        <p:nvPicPr>
          <p:cNvPr id="104" name="Google Shape;104;p4" descr="SciELO - Brasil - Os processos de apropriação de gêneros acadêmicos  (escritos) por graduandos em letras e as possíveis implicações para a  formação de professores/pesquisadores Os processos de apropriação de gêneros  acadêmicos (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4692" y="1690688"/>
            <a:ext cx="8978783" cy="4595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Desmistificando o estudo da linguagem</a:t>
            </a:r>
            <a:endParaRPr/>
          </a:p>
        </p:txBody>
      </p:sp>
      <p:pic>
        <p:nvPicPr>
          <p:cNvPr id="110" name="Google Shape;110;p5" descr="Estrelas e Planetas: Curiosidade : Porque Água e Óleo não se dissolvem ?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640015" y="1878778"/>
            <a:ext cx="3977676" cy="4486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17" name="Google Shape;117;p6" descr="Área de Broca e Wernicke: função e diferenças + IMAGE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3539" y="1254095"/>
            <a:ext cx="6028064" cy="4680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Conhecendo a gramática natural</a:t>
            </a:r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inatismo é uma hipótese, defendida por Chomsky, de que o ser humano é dotado de uma gramática inata, ou seja, essa teoria postula que o ser humano vem programado biologicamente para o desenvolvimento da fala.</a:t>
            </a:r>
            <a:endParaRPr/>
          </a:p>
        </p:txBody>
      </p:sp>
      <p:pic>
        <p:nvPicPr>
          <p:cNvPr id="1026" name="Picture 2" descr="Noam Chomsky | Biography, Theories, Books, Psychology, &amp; Facts | Britann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338" y="3789483"/>
            <a:ext cx="3924462" cy="260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6654" y="127733"/>
            <a:ext cx="10515600" cy="1325563"/>
          </a:xfrm>
        </p:spPr>
        <p:txBody>
          <a:bodyPr/>
          <a:lstStyle/>
          <a:p>
            <a:r>
              <a:rPr lang="pt-BR" dirty="0" smtClean="0"/>
              <a:t>Exemplo de pesquisa científica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076700" cy="4351338"/>
          </a:xfrm>
        </p:spPr>
        <p:txBody>
          <a:bodyPr/>
          <a:lstStyle/>
          <a:p>
            <a:r>
              <a:rPr lang="pt-BR" dirty="0"/>
              <a:t>https://docs.google.com/forms/d/e/1FAIpQLScwacjdF-rwZqVELuunICN5ct_AjFgozgfXqPMMhy1AKk5Y2A/viewform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90686"/>
            <a:ext cx="5621215" cy="562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9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Fala x Escrita</a:t>
            </a:r>
            <a:endParaRPr/>
          </a:p>
        </p:txBody>
      </p:sp>
      <p:sp>
        <p:nvSpPr>
          <p:cNvPr id="142" name="Google Shape;142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Modalidade</a:t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3593" y="1356579"/>
            <a:ext cx="7351075" cy="4965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Conhecendo a convenção escrita</a:t>
            </a:r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Artificial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 ortografia da língua portuguesa é um sistema convencional de representação que prescreve a forma correta de se escrever as palavras, incluindo as letras, a acentuação gráfica e a segmentação das palavras. Se por um lado a ortografia facilita a vida do leitor, permitindo que um mesmo texto seja lido em qualquer variação dialetal, por outro lado complica enormemente a vida dos usuários da escrita, que precisam conhecer as </a:t>
            </a:r>
            <a:r>
              <a:rPr lang="pt-BR" i="1"/>
              <a:t>convenções ortográficas.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Conhecendo as normas</a:t>
            </a:r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Norma Culta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https://fale.ufal.br/projeto/nurcdigital/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https://www.youtube.com/watch?v=NxQmBBgPrp8&amp;ab_channel=PesquisaFapesp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56" name="Google Shape;156;p12" descr="As 8 virtudes das pessoas cultas, segundo Tchekhov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4550" y="73000"/>
            <a:ext cx="3252801" cy="21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0425" y="4205963"/>
            <a:ext cx="8210550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Conhecendo as normas</a:t>
            </a:r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Norma Padrão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https://www.youtube.com/watch?v=Wn_eBrIDUuc&amp;ab_channel=TED-Ed</a:t>
            </a:r>
            <a:endParaRPr/>
          </a:p>
        </p:txBody>
      </p:sp>
      <p:pic>
        <p:nvPicPr>
          <p:cNvPr id="164" name="Google Shape;164;p13" descr="https://m.media-amazon.com/images/I/41-QstwacUL._SX349_BO1,204,203,200_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4275" y="73101"/>
            <a:ext cx="2767625" cy="39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463" y="3880838"/>
            <a:ext cx="1039177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909" y="365125"/>
            <a:ext cx="7971397" cy="632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34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Norma vernacular/coloquial</a:t>
            </a:r>
            <a:endParaRPr/>
          </a:p>
        </p:txBody>
      </p:sp>
      <p:sp>
        <p:nvSpPr>
          <p:cNvPr id="171" name="Google Shape;17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Natural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https://www.ted.com/talks/patricia_kuhl_the_linguistic_genius_of_babies?language=pt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Não existe </a:t>
            </a:r>
            <a:r>
              <a:rPr lang="pt-BR">
                <a:solidFill>
                  <a:srgbClr val="FF0000"/>
                </a:solidFill>
              </a:rPr>
              <a:t>CERTO ou ERRADO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ADEQUAÇÃO LINGUÍSTICA</a:t>
            </a:r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Qual norma e em que ocasião e em qual texto?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 eu ganhasse na mega-sena </a:t>
            </a:r>
            <a:r>
              <a:rPr lang="pt-BR">
                <a:solidFill>
                  <a:srgbClr val="FF0000"/>
                </a:solidFill>
              </a:rPr>
              <a:t>te dava </a:t>
            </a:r>
            <a:r>
              <a:rPr lang="pt-BR"/>
              <a:t>um carro.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 eu ganhasse na mega-sena </a:t>
            </a:r>
            <a:r>
              <a:rPr lang="pt-BR">
                <a:solidFill>
                  <a:srgbClr val="FF0000"/>
                </a:solidFill>
              </a:rPr>
              <a:t>te daria </a:t>
            </a:r>
            <a:r>
              <a:rPr lang="pt-BR"/>
              <a:t>um carro.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 eu ganhasse na mega-sena </a:t>
            </a:r>
            <a:r>
              <a:rPr lang="pt-BR">
                <a:solidFill>
                  <a:srgbClr val="FF0000"/>
                </a:solidFill>
              </a:rPr>
              <a:t>dar-te-ia</a:t>
            </a:r>
            <a:r>
              <a:rPr lang="pt-BR"/>
              <a:t> um carro.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Como isso nos ajuda na produção de gêneros acadêmicos?</a:t>
            </a:r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Reconhecimento de qual norma usar.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Qual modalidade usar.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Como se estruturam os textos...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 smtClean="0"/>
              <a:t>Dimensões – O QUE OBSERVAR NA PRODUÇÃO TEXTUAL</a:t>
            </a:r>
            <a:endParaRPr dirty="0"/>
          </a:p>
        </p:txBody>
      </p:sp>
      <p:sp>
        <p:nvSpPr>
          <p:cNvPr id="129" name="Google Shape;12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TEXTUAIS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MODALIDADE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CONVENCIONALIZADAS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Texto</a:t>
            </a:r>
            <a:endParaRPr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coerência, coesão, intencionalidade,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 aceitabilidade, situacionalidade,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 informatividade, intertextualidade.</a:t>
            </a:r>
            <a:endParaRPr/>
          </a:p>
        </p:txBody>
      </p:sp>
      <p:pic>
        <p:nvPicPr>
          <p:cNvPr id="136" name="Google Shape;136;p9" descr="Estrutura do artigo científic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8637" y="461963"/>
            <a:ext cx="4810639" cy="602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255</Words>
  <Application>Microsoft Office PowerPoint</Application>
  <PresentationFormat>Widescreen</PresentationFormat>
  <Paragraphs>60</Paragraphs>
  <Slides>18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Calibri</vt:lpstr>
      <vt:lpstr>Tema do Office</vt:lpstr>
      <vt:lpstr>Os gêneros acadêmicos</vt:lpstr>
      <vt:lpstr>A TEORIA...</vt:lpstr>
      <vt:lpstr>Apresentação do PowerPoint</vt:lpstr>
      <vt:lpstr>Dificuldades (https://www.scielo.br/j/rbla/a/Ypm99GJVr7LyXsLsYyq7N7c/?lang=pt)</vt:lpstr>
      <vt:lpstr>Desmistificando o estudo da linguagem</vt:lpstr>
      <vt:lpstr>Apresentação do PowerPoint</vt:lpstr>
      <vt:lpstr>Conhecendo a gramática natural</vt:lpstr>
      <vt:lpstr>Exemplo de pesquisa científica</vt:lpstr>
      <vt:lpstr>Fala x Escrita</vt:lpstr>
      <vt:lpstr>Conhecendo a convenção escrita</vt:lpstr>
      <vt:lpstr>Conhecendo as normas</vt:lpstr>
      <vt:lpstr>Conhecendo as normas</vt:lpstr>
      <vt:lpstr>Apresentação do PowerPoint</vt:lpstr>
      <vt:lpstr>Norma vernacular/coloquial</vt:lpstr>
      <vt:lpstr>ADEQUAÇÃO LINGUÍSTICA</vt:lpstr>
      <vt:lpstr>Como isso nos ajuda na produção de gêneros acadêmicos?</vt:lpstr>
      <vt:lpstr>Dimensões – O QUE OBSERVAR NA PRODUÇÃO TEXTUAL</vt:lpstr>
      <vt:lpstr>Texto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gêneros acadêmicos</dc:title>
  <dc:creator>Anonimo</dc:creator>
  <cp:lastModifiedBy>Anonimo</cp:lastModifiedBy>
  <cp:revision>16</cp:revision>
  <dcterms:created xsi:type="dcterms:W3CDTF">2023-03-21T18:56:23Z</dcterms:created>
  <dcterms:modified xsi:type="dcterms:W3CDTF">2024-02-28T13:51:07Z</dcterms:modified>
</cp:coreProperties>
</file>