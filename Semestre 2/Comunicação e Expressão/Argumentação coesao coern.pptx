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3" r:id="rId7"/>
    <p:sldId id="267" r:id="rId8"/>
    <p:sldId id="265" r:id="rId9"/>
    <p:sldId id="266" r:id="rId10"/>
    <p:sldId id="268" r:id="rId11"/>
    <p:sldId id="261" r:id="rId12"/>
    <p:sldId id="273" r:id="rId13"/>
    <p:sldId id="271" r:id="rId14"/>
    <p:sldId id="262" r:id="rId15"/>
    <p:sldId id="274" r:id="rId16"/>
    <p:sldId id="269" r:id="rId17"/>
    <p:sldId id="270" r:id="rId18"/>
    <p:sldId id="276" r:id="rId19"/>
    <p:sldId id="275" r:id="rId20"/>
    <p:sldId id="278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41FDF-BF78-4EE7-BAB3-A7FB328DEFFA}" type="datetimeFigureOut">
              <a:rPr lang="pt-BR" smtClean="0"/>
              <a:t>25/11/2024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32B72-3AA7-41EF-B623-14C9ADB0A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702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7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3" name="Google Shape;52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640" y="812880"/>
            <a:ext cx="5344920" cy="40082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4" name="Google Shape;524;p3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2769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9471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640" y="812880"/>
            <a:ext cx="5344920" cy="40082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p2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1132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A001-A72A-42F1-A505-CF58134292A5}" type="datetimeFigureOut">
              <a:rPr lang="pt-BR" smtClean="0"/>
              <a:t>25/11/2024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47113-6D40-481E-BBD7-783E4A01FD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817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A001-A72A-42F1-A505-CF58134292A5}" type="datetimeFigureOut">
              <a:rPr lang="pt-BR" smtClean="0"/>
              <a:t>25/11/2024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47113-6D40-481E-BBD7-783E4A01FD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688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A001-A72A-42F1-A505-CF58134292A5}" type="datetimeFigureOut">
              <a:rPr lang="pt-BR" smtClean="0"/>
              <a:t>25/11/2024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47113-6D40-481E-BBD7-783E4A01FD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859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A001-A72A-42F1-A505-CF58134292A5}" type="datetimeFigureOut">
              <a:rPr lang="pt-BR" smtClean="0"/>
              <a:t>25/11/2024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47113-6D40-481E-BBD7-783E4A01FD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9872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A001-A72A-42F1-A505-CF58134292A5}" type="datetimeFigureOut">
              <a:rPr lang="pt-BR" smtClean="0"/>
              <a:t>25/11/2024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47113-6D40-481E-BBD7-783E4A01FD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0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A001-A72A-42F1-A505-CF58134292A5}" type="datetimeFigureOut">
              <a:rPr lang="pt-BR" smtClean="0"/>
              <a:t>25/11/2024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47113-6D40-481E-BBD7-783E4A01FD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188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A001-A72A-42F1-A505-CF58134292A5}" type="datetimeFigureOut">
              <a:rPr lang="pt-BR" smtClean="0"/>
              <a:t>25/11/2024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47113-6D40-481E-BBD7-783E4A01FD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5533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A001-A72A-42F1-A505-CF58134292A5}" type="datetimeFigureOut">
              <a:rPr lang="pt-BR" smtClean="0"/>
              <a:t>25/11/2024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47113-6D40-481E-BBD7-783E4A01FD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629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A001-A72A-42F1-A505-CF58134292A5}" type="datetimeFigureOut">
              <a:rPr lang="pt-BR" smtClean="0"/>
              <a:t>25/11/2024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47113-6D40-481E-BBD7-783E4A01FD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3208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A001-A72A-42F1-A505-CF58134292A5}" type="datetimeFigureOut">
              <a:rPr lang="pt-BR" smtClean="0"/>
              <a:t>25/11/2024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47113-6D40-481E-BBD7-783E4A01FD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6843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FA001-A72A-42F1-A505-CF58134292A5}" type="datetimeFigureOut">
              <a:rPr lang="pt-BR" smtClean="0"/>
              <a:t>25/11/2024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47113-6D40-481E-BBD7-783E4A01FD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096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FA001-A72A-42F1-A505-CF58134292A5}" type="datetimeFigureOut">
              <a:rPr lang="pt-BR" smtClean="0"/>
              <a:t>25/11/2024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47113-6D40-481E-BBD7-783E4A01FD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00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qRrmqDc8Vk&amp;ab_channel=LeandroOliveir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Argumentação: Coesão e Coerência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dirty="0" smtClean="0"/>
              <a:t>Kayron Beviláqua (IFSC)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6315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Textuais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6" name="Picture 2" descr="https://i.pinimg.com/736x/f2/80/5d/f2805d44fe139332d81e1091c7f9d14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52" b="59121"/>
          <a:stretch/>
        </p:blipFill>
        <p:spPr bwMode="auto">
          <a:xfrm>
            <a:off x="1422230" y="1690688"/>
            <a:ext cx="9093370" cy="3113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572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DEFENDER UMA IDEIA, </a:t>
            </a:r>
            <a: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  <a:t>PONTO DE VISTA</a:t>
            </a:r>
            <a:r>
              <a:rPr lang="pt-BR" dirty="0" smtClean="0"/>
              <a:t>, </a:t>
            </a:r>
            <a:r>
              <a:rPr lang="pt-BR" dirty="0" smtClean="0">
                <a:solidFill>
                  <a:schemeClr val="accent6">
                    <a:lumMod val="50000"/>
                  </a:schemeClr>
                </a:solidFill>
              </a:rPr>
              <a:t>OPINIÃO</a:t>
            </a:r>
            <a:r>
              <a:rPr lang="pt-BR" dirty="0" smtClean="0"/>
              <a:t>,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</a:rPr>
              <a:t>TESE</a:t>
            </a:r>
            <a:r>
              <a:rPr lang="pt-BR" dirty="0" smtClean="0"/>
              <a:t>, </a:t>
            </a:r>
            <a:r>
              <a:rPr lang="pt-BR" dirty="0" smtClean="0">
                <a:solidFill>
                  <a:schemeClr val="accent4"/>
                </a:solidFill>
              </a:rPr>
              <a:t>TEORIA</a:t>
            </a:r>
            <a:r>
              <a:rPr lang="pt-BR" dirty="0" smtClean="0"/>
              <a:t>...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9382" y="1825625"/>
            <a:ext cx="11104418" cy="4351338"/>
          </a:xfrm>
        </p:spPr>
        <p:txBody>
          <a:bodyPr>
            <a:normAutofit fontScale="92500" lnSpcReduction="10000"/>
          </a:bodyPr>
          <a:lstStyle/>
          <a:p>
            <a:r>
              <a:rPr lang="pt-BR" dirty="0" smtClean="0"/>
              <a:t>Com fundamentos em </a:t>
            </a:r>
            <a:r>
              <a:rPr lang="pt-BR" dirty="0" smtClean="0">
                <a:solidFill>
                  <a:srgbClr val="FF0000"/>
                </a:solidFill>
              </a:rPr>
              <a:t>argumentos</a:t>
            </a:r>
            <a:r>
              <a:rPr lang="pt-BR" dirty="0" smtClean="0"/>
              <a:t>:</a:t>
            </a:r>
          </a:p>
          <a:p>
            <a:endParaRPr lang="pt-BR" dirty="0"/>
          </a:p>
          <a:p>
            <a:r>
              <a:rPr lang="pt-BR" dirty="0" smtClean="0"/>
              <a:t>é um conjunto de evidências, dados, afirmações ou proposições estruturados com </a:t>
            </a:r>
            <a:r>
              <a:rPr lang="pt-BR" dirty="0" smtClean="0">
                <a:solidFill>
                  <a:srgbClr val="FF0000"/>
                </a:solidFill>
              </a:rPr>
              <a:t>o objetivo de fundamentar, justificar ou defender uma ideia, posição ou tese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 smtClean="0"/>
              <a:t>Tese</a:t>
            </a:r>
            <a:r>
              <a:rPr lang="pt-BR" dirty="0" smtClean="0"/>
              <a:t>: A adoção do 5G no Brasil pode reduzir as desigualdades regionais, desde que acompanhada por políticas públicas inclusivas.</a:t>
            </a:r>
          </a:p>
          <a:p>
            <a:r>
              <a:rPr lang="pt-BR" b="1" dirty="0" smtClean="0"/>
              <a:t>Argumento</a:t>
            </a:r>
            <a:r>
              <a:rPr lang="pt-BR" dirty="0" smtClean="0"/>
              <a:t>: A tecnologia 5G oferece maior velocidade e capacidade de conexão, o que pode impulsionar setores como educação, saúde e negócios em áreas remotas.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546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65867"/>
            <a:ext cx="10515600" cy="1325563"/>
          </a:xfrm>
        </p:spPr>
        <p:txBody>
          <a:bodyPr/>
          <a:lstStyle/>
          <a:p>
            <a:r>
              <a:rPr lang="pt-BR" dirty="0" smtClean="0"/>
              <a:t>Exemplos em relatórios técnicos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90945" y="1230284"/>
            <a:ext cx="11413375" cy="5353395"/>
          </a:xfrm>
        </p:spPr>
        <p:txBody>
          <a:bodyPr>
            <a:normAutofit fontScale="85000" lnSpcReduction="20000"/>
          </a:bodyPr>
          <a:lstStyle/>
          <a:p>
            <a:r>
              <a:rPr lang="pt-BR" dirty="0" smtClean="0"/>
              <a:t>A metodologia adotada no estudo utilizou abordagens para garantir uma análise abrangente da adoção do 5G no Brasil</a:t>
            </a:r>
            <a:r>
              <a:rPr lang="pt-BR" dirty="0" smtClean="0">
                <a:solidFill>
                  <a:srgbClr val="FF0000"/>
                </a:solidFill>
              </a:rPr>
              <a:t>, porque é fundamental </a:t>
            </a:r>
            <a:r>
              <a:rPr lang="pt-BR" dirty="0" smtClean="0"/>
              <a:t>integrar dados quantitativos, aspectos normativos e desafios técnicos associados à nova tecnologia.</a:t>
            </a:r>
          </a:p>
          <a:p>
            <a:r>
              <a:rPr lang="pt-BR" dirty="0" smtClean="0"/>
              <a:t>Primeiramente, a </a:t>
            </a:r>
            <a:r>
              <a:rPr lang="pt-BR" b="1" dirty="0" smtClean="0"/>
              <a:t>coleta de dados sobre celulares com acesso ao 5G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FF0000"/>
                </a:solidFill>
              </a:rPr>
              <a:t>se mostrou essencial </a:t>
            </a:r>
            <a:r>
              <a:rPr lang="pt-BR" dirty="0" smtClean="0"/>
              <a:t>para compreender a evolução do uso dessa tecnologia no país. Além disso, a análise de dados históricos, como o número de dispositivos ativos em 2023, possibilitou uma visão comparativa que embasou conclusões sobre o crescimento da tecnologia.</a:t>
            </a:r>
          </a:p>
          <a:p>
            <a:r>
              <a:rPr lang="pt-BR" dirty="0" smtClean="0"/>
              <a:t>A </a:t>
            </a:r>
            <a:r>
              <a:rPr lang="pt-BR" b="1" dirty="0" smtClean="0"/>
              <a:t>análise da legislação municipal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FF0000"/>
                </a:solidFill>
              </a:rPr>
              <a:t>foi fundamental para avaliar o impacto das normas locais na expansão do 5G.</a:t>
            </a:r>
            <a:r>
              <a:rPr lang="pt-BR" dirty="0" smtClean="0"/>
              <a:t> A escolha de cinco capitais com diferentes abordagens regulatórias permitiu compreender como fatores como flexibilidade legal, restrições ambientais e características socioeconômicas influenciam diretamente a instalação de infraestrutura. Este método é crucial, pois revela que o sucesso da tecnologia não depende apenas de avanços técnicos, mas também de políticas públicas adequadas, servindo como guia para outras cidades que buscam ampliar a conectividade.</a:t>
            </a:r>
          </a:p>
          <a:p>
            <a:r>
              <a:rPr lang="pt-BR" dirty="0" smtClean="0"/>
              <a:t>Por fim, a análise da </a:t>
            </a:r>
            <a:r>
              <a:rPr lang="pt-BR" b="1" dirty="0" smtClean="0"/>
              <a:t>faixa de frequência e interferências com parabólicas </a:t>
            </a:r>
            <a:r>
              <a:rPr lang="pt-BR" b="1" dirty="0" smtClean="0">
                <a:solidFill>
                  <a:srgbClr val="FF0000"/>
                </a:solidFill>
              </a:rPr>
              <a:t>foi fundamental para verificar a capacidade de expansão do 5G</a:t>
            </a:r>
            <a:r>
              <a:rPr lang="pt-BR" b="1" dirty="0" smtClean="0"/>
              <a:t> e</a:t>
            </a:r>
            <a:r>
              <a:rPr lang="pt-BR" dirty="0" smtClean="0"/>
              <a:t> destacou a importância de abordar os desafios técnicos que acompanham a implementação do 5G. A faixa de 3,5 GHz, utilizada por essa tecnologia, também é empregada por antenas parabólicas, o que exigiu a adoção de medidas mitigatórias.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2503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5320" y="-75450"/>
            <a:ext cx="10515600" cy="1325563"/>
          </a:xfrm>
        </p:spPr>
        <p:txBody>
          <a:bodyPr/>
          <a:lstStyle/>
          <a:p>
            <a:r>
              <a:rPr lang="pt-BR" dirty="0" smtClean="0"/>
              <a:t>Exemplos em relatórios técnicos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088968"/>
            <a:ext cx="11206942" cy="5453148"/>
          </a:xfrm>
        </p:spPr>
        <p:txBody>
          <a:bodyPr>
            <a:normAutofit fontScale="92500" lnSpcReduction="10000"/>
          </a:bodyPr>
          <a:lstStyle/>
          <a:p>
            <a:r>
              <a:rPr lang="pt-BR" dirty="0" smtClean="0"/>
              <a:t>Os resultados apontam avanços significativos na adoção do 5G no Brasil, especialmente nas capitais São Paulo, Rio de Janeiro e Brasília. </a:t>
            </a:r>
            <a:r>
              <a:rPr lang="pt-BR" dirty="0" smtClean="0"/>
              <a:t>Outro </a:t>
            </a:r>
            <a:r>
              <a:rPr lang="pt-BR" dirty="0" smtClean="0"/>
              <a:t>desafio relevante foi a interferência entre o 5G e antenas parabólicas na faixa de 3,5 GHz, afetando especialmente áreas rurais. Embora o programa de distribuição de filtros pelo Governo Federal tenha reduzido o impacto, 20% das residências afetadas ainda relatam problemas devido à falta de suporte técnico </a:t>
            </a:r>
            <a:r>
              <a:rPr lang="pt-BR" smtClean="0"/>
              <a:t>adequado</a:t>
            </a:r>
            <a:r>
              <a:rPr lang="pt-BR" smtClean="0"/>
              <a:t>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rgbClr val="FF0000"/>
                </a:solidFill>
              </a:rPr>
              <a:t>Para resolver essas questões, é essencial uma abordagem mais uniforme e inclusiva</a:t>
            </a:r>
            <a:r>
              <a:rPr lang="pt-BR" dirty="0" smtClean="0"/>
              <a:t>. No campo legislativo, as cidades devem adotar diretrizes que conciliem agilidade com responsabilidade ambiental, </a:t>
            </a:r>
            <a:r>
              <a:rPr lang="pt-BR" dirty="0" smtClean="0">
                <a:solidFill>
                  <a:srgbClr val="FF0000"/>
                </a:solidFill>
              </a:rPr>
              <a:t>porque isso vai promover a instalação de infraestrutura com menor burocracia, mas mantendo padrões de sustentabilidade</a:t>
            </a:r>
            <a:r>
              <a:rPr lang="pt-BR" dirty="0" smtClean="0"/>
              <a:t>. Além disso, é crucial ampliar programas de assistência técnica e distribuição de filtros para áreas rurais, </a:t>
            </a:r>
            <a:r>
              <a:rPr lang="pt-BR" dirty="0" smtClean="0">
                <a:solidFill>
                  <a:srgbClr val="FF0000"/>
                </a:solidFill>
              </a:rPr>
              <a:t>porque isso vai garantir suporte contínuo e educando os usuários sobre as soluções disponíveis</a:t>
            </a:r>
            <a:r>
              <a:rPr lang="pt-BR" dirty="0" smtClean="0"/>
              <a:t>. Essas ações combinadas podem reduzir desigualdades e garantir que os benefícios do 5G alcancem todas as regiões de forma equitativa.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0719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499540"/>
            <a:ext cx="7414519" cy="593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14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8887" y="0"/>
            <a:ext cx="10515600" cy="1325563"/>
          </a:xfrm>
        </p:spPr>
        <p:txBody>
          <a:bodyPr/>
          <a:lstStyle/>
          <a:p>
            <a:r>
              <a:rPr lang="pt-BR" dirty="0" smtClean="0"/>
              <a:t>Maus argumentos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/>
          <a:srcRect b="2452"/>
          <a:stretch/>
        </p:blipFill>
        <p:spPr>
          <a:xfrm>
            <a:off x="5109989" y="99752"/>
            <a:ext cx="6677025" cy="655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99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337" y="185737"/>
            <a:ext cx="8315325" cy="64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09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576262"/>
            <a:ext cx="7839075" cy="57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28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0506" y="140681"/>
            <a:ext cx="10515600" cy="1325563"/>
          </a:xfrm>
        </p:spPr>
        <p:txBody>
          <a:bodyPr/>
          <a:lstStyle/>
          <a:p>
            <a:r>
              <a:rPr lang="pt-BR" dirty="0" smtClean="0"/>
              <a:t>Falsa relação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“Aumentou o número de celulares com 5G, </a:t>
            </a:r>
            <a:r>
              <a:rPr lang="pt-BR" sz="4000" dirty="0" smtClean="0">
                <a:solidFill>
                  <a:srgbClr val="FF0000"/>
                </a:solidFill>
              </a:rPr>
              <a:t>então</a:t>
            </a:r>
            <a:r>
              <a:rPr lang="pt-BR" dirty="0" smtClean="0"/>
              <a:t> deve estar aumentando a abrangência de 5g no país.”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2291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COESÃO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Coesão</a:t>
            </a:r>
            <a:r>
              <a:rPr lang="pt-BR" dirty="0" smtClean="0"/>
              <a:t> é a forma como as partes de um texto se conectam entre si. Ela diz respeito à </a:t>
            </a:r>
            <a:r>
              <a:rPr lang="pt-BR" b="1" dirty="0" smtClean="0">
                <a:solidFill>
                  <a:srgbClr val="FF0000"/>
                </a:solidFill>
              </a:rPr>
              <a:t>ligação</a:t>
            </a:r>
            <a:r>
              <a:rPr lang="pt-BR" dirty="0" smtClean="0"/>
              <a:t> entre as palavras, frases e parágrafos, de modo que o texto flua de maneira lógica e contínua. A coesão é garantida por meio do uso de </a:t>
            </a:r>
            <a:r>
              <a:rPr lang="pt-BR" dirty="0" smtClean="0">
                <a:solidFill>
                  <a:srgbClr val="FF0000"/>
                </a:solidFill>
              </a:rPr>
              <a:t>conectivos com o objetivo de transmitir uma ideia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656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7"/>
          <p:cNvSpPr txBox="1">
            <a:spLocks noGrp="1"/>
          </p:cNvSpPr>
          <p:nvPr>
            <p:ph type="title" idx="4294967295"/>
          </p:nvPr>
        </p:nvSpPr>
        <p:spPr>
          <a:xfrm>
            <a:off x="1980740" y="273353"/>
            <a:ext cx="8229301" cy="114468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pt-BR" sz="399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Coesão</a:t>
            </a:r>
            <a:endParaRPr sz="399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7"/>
          <p:cNvSpPr txBox="1">
            <a:spLocks noGrp="1"/>
          </p:cNvSpPr>
          <p:nvPr>
            <p:ph type="body" idx="4294967295"/>
          </p:nvPr>
        </p:nvSpPr>
        <p:spPr>
          <a:xfrm>
            <a:off x="1980740" y="1604841"/>
            <a:ext cx="8229301" cy="39771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391910" indent="-293933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2903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é político, </a:t>
            </a:r>
            <a:r>
              <a:rPr lang="pt-BR" sz="2903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então</a:t>
            </a:r>
            <a:r>
              <a:rPr lang="pt-BR" sz="2903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honesto</a:t>
            </a:r>
            <a:endParaRPr sz="290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91910" indent="-293933">
              <a:lnSpc>
                <a:spcPct val="100000"/>
              </a:lnSpc>
              <a:spcBef>
                <a:spcPts val="1286"/>
              </a:spcBef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2903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é político, </a:t>
            </a:r>
            <a:r>
              <a:rPr lang="pt-BR" sz="2903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</a:t>
            </a:r>
            <a:r>
              <a:rPr lang="pt-BR" sz="2903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honesto</a:t>
            </a:r>
            <a:endParaRPr sz="290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9605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440575"/>
            <a:ext cx="10515600" cy="5736388"/>
          </a:xfrm>
        </p:spPr>
        <p:txBody>
          <a:bodyPr>
            <a:normAutofit fontScale="92500" lnSpcReduction="10000"/>
          </a:bodyPr>
          <a:lstStyle/>
          <a:p>
            <a:endParaRPr lang="pt-BR" dirty="0" smtClean="0"/>
          </a:p>
          <a:p>
            <a:r>
              <a:rPr lang="pt-BR" dirty="0" smtClean="0"/>
              <a:t>O 5G é uma tecnologia que, </a:t>
            </a:r>
            <a:r>
              <a:rPr lang="pt-BR" dirty="0" smtClean="0">
                <a:solidFill>
                  <a:srgbClr val="FF0000"/>
                </a:solidFill>
              </a:rPr>
              <a:t>além de</a:t>
            </a:r>
            <a:r>
              <a:rPr lang="pt-BR" dirty="0" smtClean="0"/>
              <a:t> oferecer uma maior velocidade de conexão, </a:t>
            </a:r>
            <a:r>
              <a:rPr lang="pt-BR" dirty="0" smtClean="0">
                <a:solidFill>
                  <a:srgbClr val="FF0000"/>
                </a:solidFill>
              </a:rPr>
              <a:t>também</a:t>
            </a:r>
            <a:r>
              <a:rPr lang="pt-BR" dirty="0" smtClean="0"/>
              <a:t> pode promover uma verdadeira revolução digital no Brasil. </a:t>
            </a:r>
            <a:r>
              <a:rPr lang="pt-BR" dirty="0" smtClean="0">
                <a:solidFill>
                  <a:srgbClr val="FF0000"/>
                </a:solidFill>
              </a:rPr>
              <a:t>Primeiramente</a:t>
            </a:r>
            <a:r>
              <a:rPr lang="pt-BR" dirty="0" smtClean="0"/>
              <a:t>, ao permitir conexões mais rápidas e estáveis, o 5G potencializa áreas como saúde, educação e segurança pública. </a:t>
            </a:r>
            <a:r>
              <a:rPr lang="pt-BR" dirty="0" smtClean="0">
                <a:solidFill>
                  <a:srgbClr val="FF0000"/>
                </a:solidFill>
              </a:rPr>
              <a:t>Além disso</a:t>
            </a:r>
            <a:r>
              <a:rPr lang="pt-BR" dirty="0" smtClean="0"/>
              <a:t>, o acesso à internet de alta qualidade pode impulsionar a inovação em setores como agricultura e indústria, o que geraria mais empregos e desenvolvimento econômico. </a:t>
            </a:r>
            <a:r>
              <a:rPr lang="pt-BR" dirty="0" smtClean="0">
                <a:solidFill>
                  <a:srgbClr val="FF0000"/>
                </a:solidFill>
              </a:rPr>
              <a:t>Porém</a:t>
            </a:r>
            <a:r>
              <a:rPr lang="pt-BR" dirty="0" smtClean="0"/>
              <a:t>, para que o 5G seja uma realidade acessível em todo o território nacional, é necessário que o governo invista em infraestrutura e políticas públicas que garantam a expansão da cobertura, especialmente nas áreas rurais. </a:t>
            </a:r>
            <a:r>
              <a:rPr lang="pt-BR" dirty="0" smtClean="0">
                <a:solidFill>
                  <a:srgbClr val="FF0000"/>
                </a:solidFill>
              </a:rPr>
              <a:t>Dessa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FF0000"/>
                </a:solidFill>
              </a:rPr>
              <a:t>forma</a:t>
            </a:r>
            <a:r>
              <a:rPr lang="pt-BR" dirty="0" smtClean="0"/>
              <a:t>, a implementação do 5G não apenas irá melhorar a qualidade de vida nas grandes cidades, </a:t>
            </a:r>
            <a:r>
              <a:rPr lang="pt-BR" dirty="0" smtClean="0">
                <a:solidFill>
                  <a:srgbClr val="FF0000"/>
                </a:solidFill>
              </a:rPr>
              <a:t>mas também </a:t>
            </a:r>
            <a:r>
              <a:rPr lang="pt-BR" dirty="0" smtClean="0"/>
              <a:t>reduzirá as desigualdades regionais. </a:t>
            </a:r>
            <a:r>
              <a:rPr lang="pt-BR" dirty="0" smtClean="0">
                <a:solidFill>
                  <a:srgbClr val="FF0000"/>
                </a:solidFill>
              </a:rPr>
              <a:t>Portanto</a:t>
            </a:r>
            <a:r>
              <a:rPr lang="pt-BR" dirty="0" smtClean="0"/>
              <a:t>, o 5G </a:t>
            </a:r>
            <a:r>
              <a:rPr lang="pt-BR" dirty="0" smtClean="0">
                <a:solidFill>
                  <a:srgbClr val="FF0000"/>
                </a:solidFill>
              </a:rPr>
              <a:t>não só </a:t>
            </a:r>
            <a:r>
              <a:rPr lang="pt-BR" dirty="0" smtClean="0"/>
              <a:t>representa um avanço tecnológico, </a:t>
            </a:r>
            <a:r>
              <a:rPr lang="pt-BR" dirty="0" smtClean="0">
                <a:solidFill>
                  <a:srgbClr val="FF0000"/>
                </a:solidFill>
              </a:rPr>
              <a:t>como também </a:t>
            </a:r>
            <a:r>
              <a:rPr lang="pt-BR" dirty="0" smtClean="0"/>
              <a:t>uma oportunidade única para o Brasil modernizar sua economia e melhorar a qualidade de vida de sua população.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047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254" y="205581"/>
            <a:ext cx="7281949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453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Google Shape;572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6971" y="0"/>
            <a:ext cx="5015897" cy="67092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2163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Coerência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Coerência</a:t>
            </a:r>
            <a:r>
              <a:rPr lang="pt-BR" dirty="0" smtClean="0"/>
              <a:t> diz respeito a </a:t>
            </a:r>
            <a:r>
              <a:rPr lang="pt-BR" b="1" dirty="0" smtClean="0"/>
              <a:t>lógica e consistência</a:t>
            </a:r>
            <a:r>
              <a:rPr lang="pt-BR" dirty="0" smtClean="0"/>
              <a:t> do conteúdo e das ideias apresentadas.</a:t>
            </a:r>
          </a:p>
          <a:p>
            <a:endParaRPr lang="pt-BR" dirty="0"/>
          </a:p>
          <a:p>
            <a:r>
              <a:rPr lang="pt-BR" dirty="0" smtClean="0"/>
              <a:t>Um texto coerente é aquele em que as ideias se desenvolvem de maneira clara, seguindo uma linha de raciocínio que faz sentido e é compreensível para o leitor.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9428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1238596" y="3105835"/>
            <a:ext cx="10324408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https://www.youtube.com/watch?v=zqRrmqDc8Vk&amp;ab_channel=LeandroOliveira</a:t>
            </a:r>
            <a:endParaRPr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Aos 6 minutos</a:t>
            </a:r>
            <a:endParaRPr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212" y="288054"/>
            <a:ext cx="3619792" cy="281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541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45" y="0"/>
            <a:ext cx="8692428" cy="658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1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7"/>
          <p:cNvSpPr txBox="1">
            <a:spLocks noGrp="1"/>
          </p:cNvSpPr>
          <p:nvPr>
            <p:ph type="title" idx="4294967295"/>
          </p:nvPr>
        </p:nvSpPr>
        <p:spPr>
          <a:xfrm>
            <a:off x="1980740" y="273353"/>
            <a:ext cx="8229301" cy="114468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pt-BR" sz="399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Coerência</a:t>
            </a:r>
            <a:endParaRPr sz="399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7"/>
          <p:cNvSpPr txBox="1">
            <a:spLocks noGrp="1"/>
          </p:cNvSpPr>
          <p:nvPr>
            <p:ph type="body" idx="4294967295"/>
          </p:nvPr>
        </p:nvSpPr>
        <p:spPr>
          <a:xfrm>
            <a:off x="1980740" y="1604841"/>
            <a:ext cx="8229301" cy="39771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391910" indent="-293933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29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Está muito ligada à situação de fala e aos interlocutores!!</a:t>
            </a:r>
            <a:endParaRPr sz="29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07386" indent="-207386">
              <a:lnSpc>
                <a:spcPct val="100000"/>
              </a:lnSpc>
              <a:spcBef>
                <a:spcPts val="1286"/>
              </a:spcBef>
              <a:buClr>
                <a:schemeClr val="dk1"/>
              </a:buClr>
              <a:buSzPts val="3200"/>
              <a:buNone/>
            </a:pPr>
            <a:endParaRPr sz="29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07386" indent="-207386">
              <a:lnSpc>
                <a:spcPct val="100000"/>
              </a:lnSpc>
              <a:spcBef>
                <a:spcPts val="1286"/>
              </a:spcBef>
              <a:buClr>
                <a:schemeClr val="dk1"/>
              </a:buClr>
              <a:buSzPts val="3200"/>
              <a:buNone/>
            </a:pPr>
            <a:endParaRPr sz="29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1" name="Google Shape;46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3005" y="2365786"/>
            <a:ext cx="4467036" cy="45535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3668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38349"/>
            <a:ext cx="10515600" cy="53201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>Identifique a </a:t>
            </a:r>
            <a:r>
              <a:rPr lang="pt-BR" dirty="0"/>
              <a:t>opinião defendida em </a:t>
            </a:r>
            <a:r>
              <a:rPr lang="pt-BR" i="1" dirty="0"/>
              <a:t>A verdadeira </a:t>
            </a:r>
            <a:r>
              <a:rPr lang="pt-BR" i="1" dirty="0" smtClean="0"/>
              <a:t>face do </a:t>
            </a:r>
            <a:r>
              <a:rPr lang="pt-BR" i="1" dirty="0"/>
              <a:t>tabagismo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>Quais </a:t>
            </a:r>
            <a:r>
              <a:rPr lang="pt-BR" dirty="0"/>
              <a:t>são os argumentos utilizados pelo autor do editorial para respaldar sua tese</a:t>
            </a:r>
            <a:r>
              <a:rPr lang="pt-BR" dirty="0" smtClean="0"/>
              <a:t>?</a:t>
            </a:r>
          </a:p>
          <a:p>
            <a:pPr marL="0" indent="0">
              <a:buNone/>
            </a:pP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>De </a:t>
            </a:r>
            <a:r>
              <a:rPr lang="pt-BR" dirty="0"/>
              <a:t>que maneira a introdução e a conclusão se complementam, assegurando unidade ao conjunto do texto? 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Identifique os elementos coesivos.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Identifique </a:t>
            </a:r>
            <a:r>
              <a:rPr lang="pt-BR" smtClean="0"/>
              <a:t>a incoerência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33211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881</Words>
  <Application>Microsoft Office PowerPoint</Application>
  <PresentationFormat>Widescreen</PresentationFormat>
  <Paragraphs>48</Paragraphs>
  <Slides>20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Noto Sans Symbols</vt:lpstr>
      <vt:lpstr>Times New Roman</vt:lpstr>
      <vt:lpstr>Tema do Office</vt:lpstr>
      <vt:lpstr>Argumentação: Coesão e Coerência</vt:lpstr>
      <vt:lpstr>Tipos Textuais</vt:lpstr>
      <vt:lpstr>DEFENDER UMA IDEIA, PONTO DE VISTA, OPINIÃO, TESE, TEORIA...</vt:lpstr>
      <vt:lpstr>Exemplos em relatórios técnicos</vt:lpstr>
      <vt:lpstr>Exemplos em relatórios técnicos</vt:lpstr>
      <vt:lpstr>Apresentação do PowerPoint</vt:lpstr>
      <vt:lpstr>Maus argumentos</vt:lpstr>
      <vt:lpstr>Apresentação do PowerPoint</vt:lpstr>
      <vt:lpstr>Apresentação do PowerPoint</vt:lpstr>
      <vt:lpstr>Falsa relação</vt:lpstr>
      <vt:lpstr>COESÃO</vt:lpstr>
      <vt:lpstr>Coesão</vt:lpstr>
      <vt:lpstr>Apresentação do PowerPoint</vt:lpstr>
      <vt:lpstr>Apresentação do PowerPoint</vt:lpstr>
      <vt:lpstr>Apresentação do PowerPoint</vt:lpstr>
      <vt:lpstr>Coerência</vt:lpstr>
      <vt:lpstr>Apresentação do PowerPoint</vt:lpstr>
      <vt:lpstr>Apresentação do PowerPoint</vt:lpstr>
      <vt:lpstr>Coerência</vt:lpstr>
      <vt:lpstr>ATIVIDADE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Argumentação: Coesão e Coerência</dc:title>
  <dc:creator>Anonimo</dc:creator>
  <cp:lastModifiedBy>Anonimo</cp:lastModifiedBy>
  <cp:revision>29</cp:revision>
  <dcterms:created xsi:type="dcterms:W3CDTF">2024-11-25T15:40:17Z</dcterms:created>
  <dcterms:modified xsi:type="dcterms:W3CDTF">2024-11-25T16:42:57Z</dcterms:modified>
</cp:coreProperties>
</file>