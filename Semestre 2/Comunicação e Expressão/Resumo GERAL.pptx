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2000"/>
  <p:notesSz cx="6858000" cy="9144000"/>
  <p:embeddedFontLst>
    <p:embeddedFont>
      <p:font typeface="Robo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h/h3cXtEohd5NpBHdaFQ5WiXYB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f4fc1ae94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f4fc1ae94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1f4fc1ae94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/>
              <a:t>‹#›</a:t>
            </a:fld>
            <a:endParaRPr/>
          </a:p>
        </p:txBody>
      </p:sp>
      <p:sp>
        <p:nvSpPr>
          <p:cNvPr id="186" name="Google Shape;186;p18:notes"/>
          <p:cNvSpPr/>
          <p:nvPr>
            <p:ph idx="2" type="sldImg"/>
          </p:nvPr>
        </p:nvSpPr>
        <p:spPr>
          <a:xfrm>
            <a:off x="1106488" y="812800"/>
            <a:ext cx="5345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/>
              <a:t>‹#›</a:t>
            </a:fld>
            <a:endParaRPr/>
          </a:p>
        </p:txBody>
      </p:sp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1106488" y="812800"/>
            <a:ext cx="5345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/>
              <a:t>‹#›</a:t>
            </a:fld>
            <a:endParaRPr/>
          </a:p>
        </p:txBody>
      </p:sp>
      <p:sp>
        <p:nvSpPr>
          <p:cNvPr id="200" name="Google Shape;200;p20:notes"/>
          <p:cNvSpPr/>
          <p:nvPr>
            <p:ph idx="2" type="sldImg"/>
          </p:nvPr>
        </p:nvSpPr>
        <p:spPr>
          <a:xfrm>
            <a:off x="1106488" y="812800"/>
            <a:ext cx="5345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/>
              <a:t>‹#›</a:t>
            </a:fld>
            <a:endParaRPr/>
          </a:p>
        </p:txBody>
      </p:sp>
      <p:sp>
        <p:nvSpPr>
          <p:cNvPr id="207" name="Google Shape;207;p21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729FCF"/>
          </a:solidFill>
          <a:ln cap="flat" cmpd="sng" w="25400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6baed58e2f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6baed58e2f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26baed58e2f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6baed58e2f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6baed58e2f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26baed58e2f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6baed58e2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6baed58e2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26baed58e2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almarandrade.com.br/sapiens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526472" y="10821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Resumo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224742" y="2338504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Kayron Beviláqua (IFSC)</a:t>
            </a:r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18361" y="2712461"/>
            <a:ext cx="4566525" cy="4145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Atividade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A intertextualidade intrínseca</a:t>
            </a:r>
            <a:endParaRPr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O resumo é um </a:t>
            </a:r>
            <a:r>
              <a:rPr lang="pt-BR">
                <a:solidFill>
                  <a:srgbClr val="FF0000"/>
                </a:solidFill>
              </a:rPr>
              <a:t>texto</a:t>
            </a:r>
            <a:r>
              <a:rPr lang="pt-BR"/>
              <a:t> falando de outro </a:t>
            </a:r>
            <a:r>
              <a:rPr lang="pt-BR">
                <a:solidFill>
                  <a:srgbClr val="FF0000"/>
                </a:solidFill>
              </a:rPr>
              <a:t>TEXTO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pt-BR">
                <a:solidFill>
                  <a:srgbClr val="FF0000"/>
                </a:solidFill>
              </a:rPr>
              <a:t>Não é diretamente sobre o conteúdo do texto-fonte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INDIRETAMENTE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TEXTO-FONTE!</a:t>
            </a:r>
            <a:endParaRPr/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O Resumo sempre depende do texto-fonte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Referência ao texto-fonte</a:t>
            </a:r>
            <a:endParaRPr/>
          </a:p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31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"Dom Casmurro", uma obra-prima da literatura brasileira escrita por Machado de Assis, é uma narrativa </a:t>
            </a:r>
            <a:r>
              <a:rPr lang="pt-BR" sz="31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intrincada</a:t>
            </a:r>
            <a:r>
              <a:rPr lang="pt-BR" sz="31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que examina temas como ciúme, traição e memória. </a:t>
            </a:r>
            <a:endParaRPr sz="4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Concisão</a:t>
            </a:r>
            <a:endParaRPr/>
          </a:p>
        </p:txBody>
      </p:sp>
      <p:sp>
        <p:nvSpPr>
          <p:cNvPr id="120" name="Google Shape;120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Nem tudo é importante, nem tudo precisa estar no resumo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pt-BR"/>
              <a:t>+ - 1/3 do tamanho original</a:t>
            </a:r>
            <a:endParaRPr/>
          </a:p>
          <a:p>
            <a:pPr indent="-14859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pt-BR"/>
              <a:t>Limpar o que não é tão importante ou condensar…. Tirar exemplos, etc...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Seleção</a:t>
            </a:r>
            <a:endParaRPr/>
          </a:p>
        </p:txBody>
      </p:sp>
      <p:sp>
        <p:nvSpPr>
          <p:cNvPr id="126" name="Google Shape;126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Selecionar somente as ideias principais de um </a:t>
            </a:r>
            <a:r>
              <a:rPr b="1" lang="pt-BR"/>
              <a:t>texto-fonte</a:t>
            </a:r>
            <a:r>
              <a:rPr lang="pt-BR"/>
              <a:t> e reescrevê-las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pt-BR"/>
              <a:t>Quais as ideias mais importantes?</a:t>
            </a:r>
            <a:endParaRPr/>
          </a:p>
          <a:p>
            <a:pPr indent="-14859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pt-BR"/>
              <a:t>É possível reduzir essas ideias?</a:t>
            </a:r>
            <a:endParaRPr/>
          </a:p>
          <a:p>
            <a:pPr indent="-14859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pt-BR"/>
              <a:t>É possível tirar alguma ideia?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IMPESSOALIDADE</a:t>
            </a:r>
            <a:endParaRPr/>
          </a:p>
        </p:txBody>
      </p:sp>
      <p:sp>
        <p:nvSpPr>
          <p:cNvPr id="132" name="Google Shape;132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Sem marcas de autoria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Sem opinião do autor do resumo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Robô parafraseador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f4fc1ae940_0_0"/>
          <p:cNvSpPr txBox="1"/>
          <p:nvPr>
            <p:ph idx="1" type="body"/>
          </p:nvPr>
        </p:nvSpPr>
        <p:spPr>
          <a:xfrm>
            <a:off x="838200" y="292400"/>
            <a:ext cx="11003700" cy="588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218181"/>
              </a:lnSpc>
              <a:spcBef>
                <a:spcPts val="320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Como foi que nós, seres humanos, nos tornamos a espécie dominante do planeta Terra? É essa a resposta que Yuval Harari apresenta em seu best seller entitulado </a:t>
            </a:r>
            <a:r>
              <a:rPr i="1" lang="pt-BR" sz="27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“Sapiens — uma breve história da humanidade”. </a:t>
            </a:r>
            <a:r>
              <a:rPr lang="pt-BR" sz="27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Por meio de uma escrita leve e descontraída o autor apresenta uma síntese sobre a nossa história e a nossa formação humana. Yuval Harari defende uma hipótese ampla em seu livro sobre como a nossa espécie — Homo Sapiens — se sobressaiu das demais e se tornou espécie dominante no nosso planeta.</a:t>
            </a:r>
            <a:endParaRPr sz="4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PARÁFRASE</a:t>
            </a:r>
            <a:endParaRPr/>
          </a:p>
        </p:txBody>
      </p:sp>
      <p:sp>
        <p:nvSpPr>
          <p:cNvPr id="144" name="Google Shape;144;p7"/>
          <p:cNvSpPr txBox="1"/>
          <p:nvPr>
            <p:ph idx="1" type="body"/>
          </p:nvPr>
        </p:nvSpPr>
        <p:spPr>
          <a:xfrm>
            <a:off x="838200" y="1825625"/>
            <a:ext cx="743322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Qual das frases abaixo representa melhor uma paráfrase do ditado popular “camarão que dorme a onda leva”?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pt-BR"/>
              <a:t>a)</a:t>
            </a:r>
            <a:r>
              <a:rPr lang="pt-BR"/>
              <a:t> Camarão é bicho que vive dentro d’água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pt-BR"/>
              <a:t>b)</a:t>
            </a:r>
            <a:r>
              <a:rPr lang="pt-BR"/>
              <a:t> Me deixo levar por ondas assim como os camarões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pt-BR"/>
              <a:t>c)</a:t>
            </a:r>
            <a:r>
              <a:rPr lang="pt-BR"/>
              <a:t> Quem bobeia perde o bonde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pt-BR"/>
              <a:t>d)</a:t>
            </a:r>
            <a:r>
              <a:rPr lang="pt-BR"/>
              <a:t> As ondas servem de meio de locomoção dos crustáceos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423" y="258300"/>
            <a:ext cx="2847975" cy="639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Fidelidade das informações</a:t>
            </a:r>
            <a:endParaRPr/>
          </a:p>
        </p:txBody>
      </p:sp>
      <p:sp>
        <p:nvSpPr>
          <p:cNvPr id="151" name="Google Shape;15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Cuidado ao interpretar!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Sem novos dados ou informações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Sequência de apresentação</a:t>
            </a:r>
            <a:endParaRPr/>
          </a:p>
        </p:txBody>
      </p:sp>
      <p:sp>
        <p:nvSpPr>
          <p:cNvPr id="157" name="Google Shape;15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Siga a hierarquia do texto-fonte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Utilize mesma norma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Articule as ideias com </a:t>
            </a:r>
            <a:r>
              <a:rPr lang="pt-BR">
                <a:solidFill>
                  <a:srgbClr val="FF0000"/>
                </a:solidFill>
              </a:rPr>
              <a:t>conectivos</a:t>
            </a:r>
            <a:r>
              <a:rPr lang="pt-BR"/>
              <a:t> adequados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Sequência de apresentação</a:t>
            </a:r>
            <a:endParaRPr/>
          </a:p>
        </p:txBody>
      </p:sp>
      <p:sp>
        <p:nvSpPr>
          <p:cNvPr id="163" name="Google Shape;163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pt-BR"/>
              <a:t>Em que ordem o autor apresenta suas ideias?</a:t>
            </a:r>
            <a:endParaRPr/>
          </a:p>
          <a:p>
            <a:pPr indent="-14859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pt-BR"/>
              <a:t>Devo manter a mesma ordem.</a:t>
            </a:r>
            <a:endParaRPr/>
          </a:p>
          <a:p>
            <a:pPr indent="-14859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pt-BR"/>
              <a:t>Apresentar na mesma linha de raciocínio do autor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Coesão</a:t>
            </a:r>
            <a:endParaRPr/>
          </a:p>
        </p:txBody>
      </p:sp>
      <p:sp>
        <p:nvSpPr>
          <p:cNvPr id="169" name="Google Shape;169;p14"/>
          <p:cNvSpPr txBox="1"/>
          <p:nvPr>
            <p:ph idx="1" type="body"/>
          </p:nvPr>
        </p:nvSpPr>
        <p:spPr>
          <a:xfrm>
            <a:off x="838200" y="1825625"/>
            <a:ext cx="6538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Articule as ideias do autor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22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lang="pt-BR" sz="2400">
                <a:solidFill>
                  <a:srgbClr val="333333"/>
                </a:solidFill>
                <a:highlight>
                  <a:srgbClr val="F2F2F2"/>
                </a:highlight>
                <a:latin typeface="Arial"/>
                <a:ea typeface="Arial"/>
                <a:cs typeface="Arial"/>
                <a:sym typeface="Arial"/>
              </a:rPr>
              <a:t>Verbos declarativos ou que dão sentido de dizer (dicendi) são geralmente usados após declarações e citações. Prefira verbos como </a:t>
            </a:r>
            <a:r>
              <a:rPr b="1" lang="pt-BR" sz="2400">
                <a:solidFill>
                  <a:srgbClr val="333333"/>
                </a:solidFill>
                <a:highlight>
                  <a:srgbClr val="F2F2F2"/>
                </a:highlight>
                <a:latin typeface="Arial"/>
                <a:ea typeface="Arial"/>
                <a:cs typeface="Arial"/>
                <a:sym typeface="Arial"/>
              </a:rPr>
              <a:t>dizer, afirmar</a:t>
            </a:r>
            <a:r>
              <a:rPr lang="pt-BR" sz="2400">
                <a:solidFill>
                  <a:srgbClr val="333333"/>
                </a:solidFill>
                <a:highlight>
                  <a:srgbClr val="F2F2F2"/>
                </a:highlight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2400">
                <a:solidFill>
                  <a:srgbClr val="333333"/>
                </a:solidFill>
                <a:highlight>
                  <a:srgbClr val="F2F2F2"/>
                </a:highlight>
                <a:latin typeface="Arial"/>
                <a:ea typeface="Arial"/>
                <a:cs typeface="Arial"/>
                <a:sym typeface="Arial"/>
              </a:rPr>
              <a:t>declarar.</a:t>
            </a:r>
            <a:endParaRPr b="1" sz="2400">
              <a:solidFill>
                <a:srgbClr val="333333"/>
              </a:solidFill>
              <a:highlight>
                <a:srgbClr val="F2F2F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33333"/>
              </a:solidFill>
              <a:highlight>
                <a:srgbClr val="F2F2F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33333"/>
              </a:solidFill>
              <a:highlight>
                <a:srgbClr val="F2F2F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9100" y="665650"/>
            <a:ext cx="4421350" cy="552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Vozes presentes no resumo</a:t>
            </a:r>
            <a:endParaRPr/>
          </a:p>
        </p:txBody>
      </p:sp>
      <p:sp>
        <p:nvSpPr>
          <p:cNvPr id="176" name="Google Shape;176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pt-BR"/>
              <a:t>Identificar o autor do resumo e quem ele cita em seu texto</a:t>
            </a:r>
            <a:endParaRPr/>
          </a:p>
          <a:p>
            <a:pPr indent="-14859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pt-BR"/>
              <a:t>Deixe sempre a voz do autor bem clara: “o autor  afirma”; “o autor prossegue”…</a:t>
            </a:r>
            <a:endParaRPr/>
          </a:p>
          <a:p>
            <a:pPr indent="-14859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pt-BR"/>
              <a:t>O autor cita fulano para retificar seu ponto...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2" name="Google Shape;182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83" name="Google Shape;1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9525" y="1121300"/>
            <a:ext cx="10515600" cy="472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/>
          <p:nvPr>
            <p:ph idx="4294967295" type="title"/>
          </p:nvPr>
        </p:nvSpPr>
        <p:spPr>
          <a:xfrm>
            <a:off x="2046057" y="30699"/>
            <a:ext cx="8229627" cy="1145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Resumo de ‘resumo’</a:t>
            </a:r>
            <a:endParaRPr/>
          </a:p>
        </p:txBody>
      </p:sp>
      <p:pic>
        <p:nvPicPr>
          <p:cNvPr id="190" name="Google Shape;190;p1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3598" l="0" r="0" t="21003"/>
          <a:stretch/>
        </p:blipFill>
        <p:spPr>
          <a:xfrm>
            <a:off x="2046057" y="1306343"/>
            <a:ext cx="8489589" cy="979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idx="4294967295" type="title"/>
          </p:nvPr>
        </p:nvSpPr>
        <p:spPr>
          <a:xfrm>
            <a:off x="2046057" y="30699"/>
            <a:ext cx="8229627" cy="1145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Resumo de ‘resumo’</a:t>
            </a:r>
            <a:endParaRPr/>
          </a:p>
        </p:txBody>
      </p:sp>
      <p:pic>
        <p:nvPicPr>
          <p:cNvPr id="197" name="Google Shape;197;p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7698" l="0" r="0" t="51774"/>
          <a:stretch/>
        </p:blipFill>
        <p:spPr>
          <a:xfrm>
            <a:off x="2046057" y="3265856"/>
            <a:ext cx="8489589" cy="1306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>
            <p:ph idx="4294967295" type="title"/>
          </p:nvPr>
        </p:nvSpPr>
        <p:spPr>
          <a:xfrm>
            <a:off x="2046057" y="30699"/>
            <a:ext cx="8229627" cy="1145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Resumo de ‘resumo’</a:t>
            </a:r>
            <a:endParaRPr/>
          </a:p>
        </p:txBody>
      </p:sp>
      <p:pic>
        <p:nvPicPr>
          <p:cNvPr id="204" name="Google Shape;204;p2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69211"/>
          <a:stretch/>
        </p:blipFill>
        <p:spPr>
          <a:xfrm>
            <a:off x="2046057" y="2873952"/>
            <a:ext cx="8489589" cy="1959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>
            <p:ph idx="4294967295"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pt-BR"/>
              <a:t>Checklist</a:t>
            </a:r>
            <a:endParaRPr b="1"/>
          </a:p>
        </p:txBody>
      </p:sp>
      <p:sp>
        <p:nvSpPr>
          <p:cNvPr id="211" name="Google Shape;211;p21"/>
          <p:cNvSpPr txBox="1"/>
          <p:nvPr>
            <p:ph idx="4294967295" type="body"/>
          </p:nvPr>
        </p:nvSpPr>
        <p:spPr>
          <a:xfrm>
            <a:off x="838200" y="1825624"/>
            <a:ext cx="10515600" cy="4623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pt-BR"/>
              <a:t>Fonte (referência) – autor, título, etc...</a:t>
            </a:r>
            <a:endParaRPr/>
          </a:p>
          <a:p>
            <a:pPr indent="-14859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pt-BR"/>
              <a:t>Tema do texto</a:t>
            </a:r>
            <a:endParaRPr/>
          </a:p>
          <a:p>
            <a:pPr indent="-14859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pt-BR"/>
              <a:t>Posição/objetivo do autor sobre o tema</a:t>
            </a:r>
            <a:endParaRPr/>
          </a:p>
          <a:p>
            <a:pPr indent="-14859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pt-BR"/>
              <a:t>Como ele constrói o texto (argumentos; exemplos)</a:t>
            </a:r>
            <a:endParaRPr/>
          </a:p>
          <a:p>
            <a:pPr indent="-14859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pt-BR"/>
              <a:t>Como o autor conclui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Resumo informativo X Indicativo</a:t>
            </a:r>
            <a:endParaRPr/>
          </a:p>
        </p:txBody>
      </p:sp>
      <p:sp>
        <p:nvSpPr>
          <p:cNvPr id="217" name="Google Shape;217;p22"/>
          <p:cNvSpPr txBox="1"/>
          <p:nvPr>
            <p:ph idx="1" type="body"/>
          </p:nvPr>
        </p:nvSpPr>
        <p:spPr>
          <a:xfrm>
            <a:off x="316200" y="1771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u="sng">
                <a:solidFill>
                  <a:schemeClr val="hlink"/>
                </a:solidFill>
                <a:hlinkClick r:id="rId3"/>
              </a:rPr>
              <a:t>Informativo: https://walmarandrade.com.br/sapiens/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6baed58e2f_0_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26baed58e2f_0_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g26baed58e2f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5654" y="240514"/>
            <a:ext cx="5480696" cy="63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6baed58e2f_0_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26baed58e2f_0_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g26baed58e2f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601" y="239225"/>
            <a:ext cx="10603675" cy="615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6baed58e2f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6baed58e2f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1" name="Google Shape;241;g26baed58e2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5388" y="228600"/>
            <a:ext cx="9801225" cy="64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2024-03-07T01:46:50Z</dcterms:created>
  <dc:creator>Anonimo</dc:creator>
</cp:coreProperties>
</file>