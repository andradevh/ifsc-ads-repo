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7" r:id="rId6"/>
    <p:sldId id="275" r:id="rId7"/>
    <p:sldId id="276" r:id="rId8"/>
    <p:sldId id="268" r:id="rId9"/>
    <p:sldId id="274" r:id="rId10"/>
    <p:sldId id="273" r:id="rId11"/>
    <p:sldId id="261" r:id="rId12"/>
    <p:sldId id="269" r:id="rId13"/>
    <p:sldId id="262" r:id="rId14"/>
    <p:sldId id="270" r:id="rId15"/>
    <p:sldId id="263" r:id="rId16"/>
    <p:sldId id="271" r:id="rId17"/>
    <p:sldId id="264" r:id="rId18"/>
    <p:sldId id="272" r:id="rId19"/>
    <p:sldId id="265" r:id="rId20"/>
    <p:sldId id="266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88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87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51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44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76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26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22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83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83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96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36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460E5-EC85-434D-94D1-42EBED63404C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52ADC-730F-458D-922F-0C796FF860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Estrutura do artigo científico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Kayron </a:t>
            </a:r>
            <a:r>
              <a:rPr lang="pt-BR" dirty="0" err="1" smtClean="0"/>
              <a:t>Beviláqua</a:t>
            </a:r>
            <a:r>
              <a:rPr lang="pt-BR" dirty="0" smtClean="0"/>
              <a:t> (IFSC)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25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um Artigo Científico?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Definição</a:t>
            </a:r>
            <a:r>
              <a:rPr lang="pt-BR" dirty="0" smtClean="0"/>
              <a:t>: Um texto formal e rigoroso que apresenta resultados de pesquisas originais, análises críticas ou revisões de literatura, contribuindo para o avanço do conhecimento em uma área específica.</a:t>
            </a:r>
          </a:p>
          <a:p>
            <a:endParaRPr lang="pt-BR" dirty="0" smtClean="0"/>
          </a:p>
          <a:p>
            <a:r>
              <a:rPr lang="pt-BR" b="1" dirty="0" smtClean="0"/>
              <a:t>Propósito</a:t>
            </a:r>
            <a:r>
              <a:rPr lang="pt-BR" dirty="0" smtClean="0"/>
              <a:t>: Comunicar descobertas, métodos e conclusões de forma clara e verificável para a comunidade científica.</a:t>
            </a:r>
          </a:p>
          <a:p>
            <a:endParaRPr lang="pt-BR" dirty="0"/>
          </a:p>
          <a:p>
            <a:r>
              <a:rPr lang="pt-BR" b="1" dirty="0" smtClean="0"/>
              <a:t>Público-alvo</a:t>
            </a:r>
            <a:r>
              <a:rPr lang="pt-BR" dirty="0" smtClean="0"/>
              <a:t>: Pesquisadores, estudantes e profissionais da área.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04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“capa”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Título: Preciso, conciso e informativo, refletindo o conteúdo do artigo.</a:t>
            </a:r>
          </a:p>
          <a:p>
            <a:r>
              <a:rPr lang="pt-BR" dirty="0" smtClean="0"/>
              <a:t>Autores: Nome completo, afiliação institucional e informações de contato.</a:t>
            </a:r>
          </a:p>
          <a:p>
            <a:r>
              <a:rPr lang="pt-BR" dirty="0" smtClean="0"/>
              <a:t>Resumo (Abstract): Um parágrafo conciso que apresenta o problema, objetivos, metodologia, resultados principais e conclusões. Geralmente não ultrapassa 250 palavras.</a:t>
            </a:r>
          </a:p>
          <a:p>
            <a:r>
              <a:rPr lang="pt-BR" dirty="0" smtClean="0"/>
              <a:t>Palavras-chave (</a:t>
            </a:r>
            <a:r>
              <a:rPr lang="pt-BR" dirty="0" err="1" smtClean="0"/>
              <a:t>Keywords</a:t>
            </a:r>
            <a:r>
              <a:rPr lang="pt-BR" dirty="0" smtClean="0"/>
              <a:t>): Termos relevantes que auxiliam na indexação e busca do artigo.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059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13610" y="1690688"/>
            <a:ext cx="1139267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Contextualização:</a:t>
            </a: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Apresenta o tema geral e sua relevância.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 de Pesquisa:</a:t>
            </a: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Formula a questão que a pesquisa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busca responder.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Lacunas na Literatura:</a:t>
            </a: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 o que ainda não foi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explorado ou as controvérsias existentes.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Objetivos:</a:t>
            </a: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Descreve o que a pesquisa pretende alcançar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(geral e específicos).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Justificativa:</a:t>
            </a:r>
            <a:r>
              <a:rPr kumimoji="0" lang="pt-BR" alt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Explica a importância da pesquisa.</a:t>
            </a:r>
          </a:p>
        </p:txBody>
      </p:sp>
    </p:spTree>
    <p:extLst>
      <p:ext uri="{BB962C8B-B14F-4D97-AF65-F5344CB8AC3E}">
        <p14:creationId xmlns:p14="http://schemas.microsoft.com/office/powerpoint/2010/main" val="283463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smtClean="0"/>
              <a:t>Contexto e Problema de Pesquisa:</a:t>
            </a:r>
            <a:endParaRPr lang="pt-BR" dirty="0" smtClean="0"/>
          </a:p>
          <a:p>
            <a:r>
              <a:rPr lang="pt-BR" dirty="0" smtClean="0"/>
              <a:t>"O ambiente hospitalar é frequentemente associado a níveis elevados de estresse e ansiedade em pacientes, o que pode impactar negativamente o processo de recuperação e a qualidade de vida durante a internação. Estratégias não farmacológicas para mitigar esses efeitos têm sido cada vez mais exploradas, com a Terapia Assistida por Animais (TAA) emergindo como uma intervenção promissora. Apesar do crescente interesse, a literatura ainda carece de estudos que quantifiquem de forma robusta o impacto da TAA na redução do estresse fisiológico em diferentes populações hospitalares no contexto brasileiro."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94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Fundamentação Teórica</a:t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255994"/>
            <a:ext cx="1031106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a revisão e análise crítica da literatura existente sobre o tema da sua pesquisa.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Também conhecida como </a:t>
            </a: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referencial teórico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</a:t>
            </a: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revisão de literatura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Propósito: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Não é apenas um apanhado de citações, mas uma construção argumentativa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 conecta o seu trabalho ao conhecimento já estabelecido na área.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Importância:</a:t>
            </a: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Contextualiza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problema de pesquisa.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 lacunas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conhecimento que seu estudo pode preencher.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relevância da sua pesquisa.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Oferece base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a metodologia e a discussão dos resultados.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 a "reinvenção da roda"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35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"A integração da </a:t>
            </a:r>
            <a:r>
              <a:rPr lang="pt-BR" b="1" dirty="0" smtClean="0"/>
              <a:t>inteligência artificial (IA)</a:t>
            </a:r>
            <a:r>
              <a:rPr lang="pt-BR" dirty="0" smtClean="0"/>
              <a:t> no contexto educacional tem sido objeto de crescente debate e pesquisa nas últimas décadas (Silva &amp; Costa, 2020). Enquanto autores como Pereira (2018) destacam o potencial da IA para personalizar o aprendizado e otimizar a gestão pedagógica, outros, como Souza (2021), alertam para os desafios éticos e a necessidade de capacitação de docentes. A literatura aponta para a existência de diversas ferramentas baseadas em IA que visam aprimorar a experiência de ensino-aprendizagem (Martins, 2019), contudo, ainda há uma lacuna significativa na compreensão de como essas ferramentas são percebidas e utilizadas por estudantes do ensino médio em escolas públicas, especificamente no que tange ao desenvolvimento do pensamento crítico."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678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Objetivos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1475872" y="2236874"/>
            <a:ext cx="89194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203157" y="2236874"/>
            <a:ext cx="99942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Definição: São as metas que você pretende atingir com seu estudo. Eles indicam o que se busca conhecer, analisar, verificar ou desenvolver.</a:t>
            </a:r>
          </a:p>
          <a:p>
            <a:endParaRPr lang="pt-BR" sz="2400" dirty="0"/>
          </a:p>
          <a:p>
            <a:r>
              <a:rPr lang="pt-BR" sz="2400" dirty="0" smtClean="0"/>
              <a:t> Clareza e Especificidade: Devem ser claros, concisos e específicos, sem margem para interpretações ambíguas. </a:t>
            </a:r>
          </a:p>
          <a:p>
            <a:endParaRPr lang="pt-BR" sz="2400" dirty="0" smtClean="0"/>
          </a:p>
          <a:p>
            <a:r>
              <a:rPr lang="pt-BR" sz="2400" dirty="0" smtClean="0"/>
              <a:t>Verbos no Infinitivo: Geralmente são expressos com verbos no infinitivo (</a:t>
            </a:r>
            <a:r>
              <a:rPr lang="pt-BR" sz="2400" dirty="0" err="1" smtClean="0"/>
              <a:t>Ex</a:t>
            </a:r>
            <a:r>
              <a:rPr lang="pt-BR" sz="2400" dirty="0" smtClean="0"/>
              <a:t>: Analisar, Compreender, Avaliar, Identificar, Propor).</a:t>
            </a:r>
          </a:p>
          <a:p>
            <a:endParaRPr lang="pt-BR" sz="2400" dirty="0"/>
          </a:p>
          <a:p>
            <a:r>
              <a:rPr lang="pt-BR" sz="2400" dirty="0" smtClean="0"/>
              <a:t> Classificação: Dividem-se em Objetivo Geral e Objetivos Específicos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1439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Objetivos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1475872" y="2236874"/>
            <a:ext cx="89194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203157" y="2236874"/>
            <a:ext cx="99942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/>
              <a:t>Objetivo Geral</a:t>
            </a:r>
          </a:p>
          <a:p>
            <a:r>
              <a:rPr lang="pt-BR" sz="2400" b="1" dirty="0" smtClean="0"/>
              <a:t>O Grande Alvo:</a:t>
            </a:r>
            <a:r>
              <a:rPr lang="pt-BR" sz="2400" dirty="0" smtClean="0"/>
              <a:t> É a meta principal do estudo, o que se pretende alcançar de forma mais ampla ao final da pesquisa.</a:t>
            </a:r>
          </a:p>
          <a:p>
            <a:endParaRPr lang="pt-BR" sz="2400" dirty="0"/>
          </a:p>
          <a:p>
            <a:endParaRPr lang="pt-BR" sz="2400" dirty="0" smtClean="0"/>
          </a:p>
          <a:p>
            <a:r>
              <a:rPr lang="pt-BR" sz="2400" b="1" dirty="0" smtClean="0"/>
              <a:t>Objetivos Específicos</a:t>
            </a:r>
          </a:p>
          <a:p>
            <a:r>
              <a:rPr lang="pt-BR" sz="2400" b="1" dirty="0" smtClean="0"/>
              <a:t>Os Passos para o Geral:</a:t>
            </a:r>
            <a:r>
              <a:rPr lang="pt-BR" sz="2400" dirty="0" smtClean="0"/>
              <a:t> São as etapas menores e sequenciais que precisam ser cumpridas para que o objetivo geral seja alcançado.</a:t>
            </a:r>
          </a:p>
          <a:p>
            <a:endParaRPr lang="pt-BR" sz="2400" dirty="0" smtClean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422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Objetivos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1411704" y="2268959"/>
            <a:ext cx="89194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/>
              <a:t>"Diante dessa lacuna, o presente estudo teve como objetivo principal avaliar a eficácia da TAA na redução dos níveis de cortisol salivar e na percepção subjetiva de estresse em pacientes adultos internados em um hospital geral. Como objetivos específicos, buscou-se comparar os níveis de estresse antes e após as sessões de TAA, bem como identificar possíveis diferenças de resposta entre grupos demográficos distintos."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299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Metodologia</a:t>
            </a:r>
            <a:endParaRPr lang="pt-B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3"/>
            <a:ext cx="1095524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 de Pesquisa: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Descreve a abordagem (quantitativa, qualitativa, mista).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Participantes/Amostra: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Quem ou o que foi estudado e como foi selecionado.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Instrumentos: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Quais ferramentas foram usadas para coletar dados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(questionários, entrevistas, experimentos,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Procedimentos: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a pesquisa foi conduzida, passo a passo,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permitindo a replicação por outros pesquisadores.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 de Dados: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os dados foram tratados e interpretados.</a:t>
            </a:r>
          </a:p>
        </p:txBody>
      </p:sp>
    </p:spTree>
    <p:extLst>
      <p:ext uri="{BB962C8B-B14F-4D97-AF65-F5344CB8AC3E}">
        <p14:creationId xmlns:p14="http://schemas.microsoft.com/office/powerpoint/2010/main" val="83574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"Este estudo quase-experimental, de caráter quantitativo, envolveu 60 pacientes adultos (≥ 18 anos) internados na enfermaria de clínica médica de um hospital universitário. Os participantes foram alocados em dois grupos: Grupo Experimental (n=30), que recebeu sessões de TAA, e Grupo Controle (n=30), que não recebeu a intervenção. Foram excluídos pacientes com alergias conhecidas a animais, </a:t>
            </a:r>
            <a:r>
              <a:rPr lang="pt-BR" dirty="0" err="1" smtClean="0"/>
              <a:t>imunocomprometidos</a:t>
            </a:r>
            <a:r>
              <a:rPr lang="pt-BR" dirty="0" smtClean="0"/>
              <a:t> ou com condições psiquiátricas graves que impedissem a </a:t>
            </a:r>
            <a:r>
              <a:rPr lang="pt-BR" dirty="0" err="1" smtClean="0"/>
              <a:t>participação."Procedimentos</a:t>
            </a:r>
            <a:r>
              <a:rPr lang="pt-BR" dirty="0" smtClean="0"/>
              <a:t> e Coleta de </a:t>
            </a:r>
            <a:r>
              <a:rPr lang="pt-BR" dirty="0" err="1" smtClean="0"/>
              <a:t>Dados:"As</a:t>
            </a:r>
            <a:r>
              <a:rPr lang="pt-BR" dirty="0" smtClean="0"/>
              <a:t> sessões de TAA, com duração de 30 minutos cada, foram realizadas individualmente no quarto do paciente, três vezes por semana, durante duas semanas, por uma equipe certificada de cães terapeutas e seus condutores. Antes e após a série de sessões, foram coletadas amostras de saliva dos participantes para análise dos níveis de cortisol, um </a:t>
            </a:r>
            <a:r>
              <a:rPr lang="pt-BR" dirty="0" err="1" smtClean="0"/>
              <a:t>biomarcador</a:t>
            </a:r>
            <a:r>
              <a:rPr lang="pt-BR" dirty="0" smtClean="0"/>
              <a:t> de estresse. Adicionalmente, aplicou-se a Escala Analógica Visual de Estresse (EAVE) para mensurar a percepção subjetiva de estresse."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358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Resultados</a:t>
            </a:r>
            <a:endParaRPr lang="pt-B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8"/>
            <a:ext cx="1106783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/>
              <a:t>Apresentação dos Dados: Exposição clara e objetiva dos achados </a:t>
            </a:r>
            <a:r>
              <a:rPr lang="pt-BR" altLang="pt-BR" dirty="0" smtClean="0"/>
              <a:t>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dirty="0" smtClean="0"/>
              <a:t> pesquisa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/>
              <a:t>Uso de Elementos Visuais: Tabelas, gráficos e figuras são bem-vindos </a:t>
            </a:r>
            <a:r>
              <a:rPr lang="pt-BR" altLang="pt-BR" dirty="0" smtClean="0"/>
              <a:t>para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dirty="0" smtClean="0"/>
              <a:t>facilitar </a:t>
            </a:r>
            <a:r>
              <a:rPr lang="pt-BR" altLang="pt-BR" dirty="0"/>
              <a:t>a compreensão dos dados</a:t>
            </a:r>
            <a:r>
              <a:rPr lang="pt-BR" altLang="pt-BR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/>
              <a:t>Não Interpretação: Nesta seção, apenas apresente os dados brutos ou </a:t>
            </a:r>
            <a:endParaRPr lang="pt-BR" altLang="pt-B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dirty="0" smtClean="0"/>
              <a:t>processados</a:t>
            </a:r>
            <a:r>
              <a:rPr lang="pt-BR" altLang="pt-BR" dirty="0"/>
              <a:t>, sem discutir seu significado ou compará-los com </a:t>
            </a:r>
            <a:r>
              <a:rPr lang="pt-BR" altLang="pt-BR" dirty="0" smtClean="0"/>
              <a:t>outros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dirty="0" smtClean="0"/>
              <a:t> </a:t>
            </a:r>
            <a:r>
              <a:rPr lang="pt-BR" altLang="pt-BR" dirty="0"/>
              <a:t>estudos (isso vem na discussão).</a:t>
            </a:r>
          </a:p>
        </p:txBody>
      </p:sp>
    </p:spTree>
    <p:extLst>
      <p:ext uri="{BB962C8B-B14F-4D97-AF65-F5344CB8AC3E}">
        <p14:creationId xmlns:p14="http://schemas.microsoft.com/office/powerpoint/2010/main" val="2799061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70021"/>
            <a:ext cx="10515600" cy="5406942"/>
          </a:xfrm>
        </p:spPr>
        <p:txBody>
          <a:bodyPr/>
          <a:lstStyle/>
          <a:p>
            <a:r>
              <a:rPr lang="pt-BR" dirty="0" smtClean="0"/>
              <a:t>"Observou-se uma redução estatisticamente significativa nos níveis de cortisol salivar no Grupo Experimental (Média ± DP: 0.35±0.12 </a:t>
            </a:r>
            <a:r>
              <a:rPr lang="pt-BR" dirty="0" err="1" smtClean="0"/>
              <a:t>μg</a:t>
            </a:r>
            <a:r>
              <a:rPr lang="pt-BR" dirty="0" smtClean="0"/>
              <a:t>/</a:t>
            </a:r>
            <a:r>
              <a:rPr lang="pt-BR" dirty="0" err="1" smtClean="0"/>
              <a:t>dL</a:t>
            </a:r>
            <a:r>
              <a:rPr lang="pt-BR" dirty="0" smtClean="0"/>
              <a:t> </a:t>
            </a:r>
            <a:r>
              <a:rPr lang="pt-BR" dirty="0" err="1" smtClean="0"/>
              <a:t>pré-TAA</a:t>
            </a:r>
            <a:r>
              <a:rPr lang="pt-BR" dirty="0" smtClean="0"/>
              <a:t> para 0.21±0.08 </a:t>
            </a:r>
            <a:r>
              <a:rPr lang="pt-BR" dirty="0" err="1" smtClean="0"/>
              <a:t>μg</a:t>
            </a:r>
            <a:r>
              <a:rPr lang="pt-BR" dirty="0" smtClean="0"/>
              <a:t>/</a:t>
            </a:r>
            <a:r>
              <a:rPr lang="pt-BR" dirty="0" err="1" smtClean="0"/>
              <a:t>dL</a:t>
            </a:r>
            <a:r>
              <a:rPr lang="pt-BR" dirty="0" smtClean="0"/>
              <a:t> </a:t>
            </a:r>
            <a:r>
              <a:rPr lang="pt-BR" dirty="0" err="1" smtClean="0"/>
              <a:t>pós-TAA</a:t>
            </a:r>
            <a:r>
              <a:rPr lang="pt-BR" dirty="0" smtClean="0"/>
              <a:t>; p&lt;0.001), enquanto o Grupo Controle não apresentou alteração significativa (p=0.45). Da mesma forma, as pontuações na EAVE diminuíram consideravelmente no Grupo Experimental (Média ± DP: 7.2±1.5 </a:t>
            </a:r>
            <a:r>
              <a:rPr lang="pt-BR" dirty="0" err="1" smtClean="0"/>
              <a:t>pré-TAA</a:t>
            </a:r>
            <a:r>
              <a:rPr lang="pt-BR" dirty="0" smtClean="0"/>
              <a:t> para 3.8±1.1 </a:t>
            </a:r>
            <a:r>
              <a:rPr lang="pt-BR" dirty="0" err="1" smtClean="0"/>
              <a:t>pós-TAA</a:t>
            </a:r>
            <a:r>
              <a:rPr lang="pt-BR" dirty="0" smtClean="0"/>
              <a:t>; p&lt;0.001), indicando uma redução na percepção subjetiva de estresse. A Figura 1 ilustra a variação média do cortisol salivar em ambos os grupos."(Nota: Em um artigo real, a "Figura 1" seria apresentada logo após ou próxima à menção no texto, exibindo um gráfico de barras ou linhas comparando os níveis de cortisol.)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8673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Discussão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3722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Interpretação dos Resultados: Explica o que os resultados significam em relação ao problema de pesquisa e aos objetivos.</a:t>
            </a:r>
          </a:p>
          <a:p>
            <a:endParaRPr lang="pt-BR" dirty="0"/>
          </a:p>
          <a:p>
            <a:r>
              <a:rPr lang="pt-BR" dirty="0" smtClean="0"/>
              <a:t>Comparação com a Literatura: Relaciona os achados com estudos anteriores, concordando ou discordando.</a:t>
            </a:r>
          </a:p>
          <a:p>
            <a:endParaRPr lang="pt-BR" dirty="0"/>
          </a:p>
          <a:p>
            <a:r>
              <a:rPr lang="pt-BR" dirty="0" smtClean="0"/>
              <a:t>Implicações: Discute as contribuições da pesquisa para a teoria ou prática.</a:t>
            </a:r>
          </a:p>
          <a:p>
            <a:endParaRPr lang="pt-BR" dirty="0"/>
          </a:p>
          <a:p>
            <a:r>
              <a:rPr lang="pt-BR" dirty="0" smtClean="0"/>
              <a:t>Limitações: Apresenta as restrições e desafios enfrentados no estudo.</a:t>
            </a:r>
          </a:p>
          <a:p>
            <a:endParaRPr lang="pt-BR" dirty="0"/>
          </a:p>
          <a:p>
            <a:r>
              <a:rPr lang="pt-BR" dirty="0" smtClean="0"/>
              <a:t>Sugestões para Pesquisas Futuras: Propõe novos caminhos de investigação.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1831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"Os resultados deste estudo corroboram a hipótese de que a Terapia Assistida por Animais é eficaz na redução de indicadores fisiológicos e subjetivos de estresse em pacientes hospitalizados. A diminuição observada nos níveis de cortisol salivar no grupo que recebeu a TAA está em linha com achados de outros estudos internacionais (Smith et al., 2020; Johnson &amp; Lee, 2019), que também apontam para um efeito calmante da interação humano-animal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2342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 e 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Conclusão: Síntese dos principais achados e resposta direta ao problema de pesquisa. Não introduz novas informações.</a:t>
            </a:r>
          </a:p>
          <a:p>
            <a:endParaRPr lang="pt-BR" dirty="0"/>
          </a:p>
          <a:p>
            <a:r>
              <a:rPr lang="pt-BR" dirty="0" smtClean="0"/>
              <a:t>Referências: Lista completa de todas as obras citadas no texto, seguindo as normas da ABNT, APA, Vancouver, etc. (dependendo da área e revista).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9936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"Essas descobertas têm importantes implicações clínicas, sugerindo que a TAA pode ser uma ferramenta valiosa para melhorar o bem-estar de pacientes internados, potencialmente acelerando a recuperação e reduzindo a necessidade de intervenções farmacológicas para ansiedade.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9310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Dicas Essenciais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Clareza e Concisão: Seja direto e evite rodeios. Cada palavra deve ter um propósito.</a:t>
            </a:r>
          </a:p>
          <a:p>
            <a:r>
              <a:rPr lang="pt-BR" dirty="0" smtClean="0"/>
              <a:t>Linguagem Formal e Objetiva: Mantenha um tom impessoal e científico.</a:t>
            </a:r>
          </a:p>
          <a:p>
            <a:r>
              <a:rPr lang="pt-BR" dirty="0" smtClean="0"/>
              <a:t>Coerência e Coesão: Garanta que as ideias fluam logicamente entre parágrafos e seções.</a:t>
            </a:r>
          </a:p>
          <a:p>
            <a:r>
              <a:rPr lang="pt-BR" dirty="0" smtClean="0"/>
              <a:t>Revisão Rigorosa: Verifique a gramática, ortografia, formatação e consistência das informações.</a:t>
            </a:r>
          </a:p>
          <a:p>
            <a:r>
              <a:rPr lang="pt-BR" dirty="0" smtClean="0"/>
              <a:t>Atenção às Normas: Siga rigorosamente as normas de formatação e citação exigidas pela revista ou evento.</a:t>
            </a:r>
          </a:p>
          <a:p>
            <a:r>
              <a:rPr lang="pt-BR" dirty="0" smtClean="0"/>
              <a:t>Feedback: Peça para colegas ou orientadores revisarem seu trabalho antes de submeter.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6615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Dicas Essenciais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Comece pelo Problema: Uma boa pesquisa nasce de uma pergunta relevante e não respondida.</a:t>
            </a:r>
          </a:p>
          <a:p>
            <a:endParaRPr lang="pt-BR" dirty="0"/>
          </a:p>
          <a:p>
            <a:r>
              <a:rPr lang="pt-BR" dirty="0" smtClean="0"/>
              <a:t>Organize-se: Use softwares de gerenciamento de referências e crie um cronograma.</a:t>
            </a:r>
          </a:p>
          <a:p>
            <a:endParaRPr lang="pt-BR" dirty="0"/>
          </a:p>
          <a:p>
            <a:r>
              <a:rPr lang="pt-BR" dirty="0" smtClean="0"/>
              <a:t>Leia Muito: Para escrever bem, é fundamental ler muitos artigos na sua área.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7746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1570</Words>
  <Application>Microsoft Office PowerPoint</Application>
  <PresentationFormat>Widescreen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Estrutura do artigo científico</vt:lpstr>
      <vt:lpstr>O que é um Artigo Científico?</vt:lpstr>
      <vt:lpstr>“capa”</vt:lpstr>
      <vt:lpstr>Introdução</vt:lpstr>
      <vt:lpstr>Apresentação do PowerPoint</vt:lpstr>
      <vt:lpstr>Fundamentação Teórica </vt:lpstr>
      <vt:lpstr>Apresentação do PowerPoint</vt:lpstr>
      <vt:lpstr>Objetivos</vt:lpstr>
      <vt:lpstr>Objetivos</vt:lpstr>
      <vt:lpstr>Objetivos</vt:lpstr>
      <vt:lpstr>Metodologia</vt:lpstr>
      <vt:lpstr>Apresentação do PowerPoint</vt:lpstr>
      <vt:lpstr>Resultados</vt:lpstr>
      <vt:lpstr>Apresentação do PowerPoint</vt:lpstr>
      <vt:lpstr>Discussão</vt:lpstr>
      <vt:lpstr>Apresentação do PowerPoint</vt:lpstr>
      <vt:lpstr>Conclusão e Referências</vt:lpstr>
      <vt:lpstr>Apresentação do PowerPoint</vt:lpstr>
      <vt:lpstr>Dicas Essenciais</vt:lpstr>
      <vt:lpstr>Dicas Essenciais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do artigo científico</dc:title>
  <dc:creator>Anonimo</dc:creator>
  <cp:lastModifiedBy>Anonimo</cp:lastModifiedBy>
  <cp:revision>6</cp:revision>
  <dcterms:created xsi:type="dcterms:W3CDTF">2025-07-10T13:53:22Z</dcterms:created>
  <dcterms:modified xsi:type="dcterms:W3CDTF">2025-07-10T14:03:49Z</dcterms:modified>
</cp:coreProperties>
</file>