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Caveat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ave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Cave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4a3b14b83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4a3b14b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f991b60ff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f991b60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43de336d_0_4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43de336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cb66bdf44_0_1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cb66bdf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c43de336d_0_1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c43de336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cb66bdf44_0_8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cb66bdf4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c43de336d_0_2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c43de336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b66bdf44_0_10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cb66bdf4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cb66bdf44_0_1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cb66bdf4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cb66bdf44_0_16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cb66bdf4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cb66bdf44_0_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cb66bdf4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cb66bdf44_0_11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cb66bdf4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cb66bdf44_0_6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cb66bdf4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cb66bdf44_0_13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cb66bdf4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d489259a89_0_1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d489259a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4bfe33a99_0_1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d4bfe33a9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d4bfe33a99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d4bfe33a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prog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00" y="5003133"/>
            <a:ext cx="1984726" cy="15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707100" y="1662733"/>
            <a:ext cx="7729800" cy="907200"/>
          </a:xfrm>
          <a:prstGeom prst="roundRect">
            <a:avLst>
              <a:gd fmla="val 16667" name="adj"/>
            </a:avLst>
          </a:prstGeom>
          <a:solidFill>
            <a:srgbClr val="358159"/>
          </a:solidFill>
          <a:ln>
            <a:noFill/>
          </a:ln>
          <a:effectLst>
            <a:outerShdw blurRad="57150" rotWithShape="0" algn="bl" dir="27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381600"/>
            <a:ext cx="8520600" cy="11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Programação Estruturada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chemeClr val="lt1"/>
                </a:solidFill>
              </a:rPr>
              <a:t>Aula 09 - Estruturas de Dados: Arrays</a:t>
            </a:r>
            <a:endParaRPr sz="145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304400"/>
            <a:ext cx="8520600" cy="25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Prof. Ramon Hugo de Souza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(ramon.hugo@ifsc.edu.br)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Instituto Federal de Santa Catarina (IFSC)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An</a:t>
            </a:r>
            <a:r>
              <a:rPr lang="pt-BR" sz="1300">
                <a:solidFill>
                  <a:schemeClr val="dk1"/>
                </a:solidFill>
              </a:rPr>
              <a:t>álise e Desenv</a:t>
            </a:r>
            <a:r>
              <a:rPr lang="pt-BR" sz="1300">
                <a:solidFill>
                  <a:schemeClr val="dk1"/>
                </a:solidFill>
              </a:rPr>
              <a:t>olvimento</a:t>
            </a:r>
            <a:r>
              <a:rPr lang="pt-BR" sz="1300">
                <a:solidFill>
                  <a:schemeClr val="dk1"/>
                </a:solidFill>
              </a:rPr>
              <a:t> de Sistemas</a:t>
            </a:r>
            <a:r>
              <a:rPr lang="pt-BR" sz="1300">
                <a:solidFill>
                  <a:schemeClr val="dk1"/>
                </a:solidFill>
              </a:rPr>
              <a:t>, Campus São José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Programação Frontend I (FEI786202)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5794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-50" y="57600"/>
            <a:ext cx="4557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562225" y="57600"/>
            <a:ext cx="45720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0C343D"/>
                </a:solidFill>
              </a:rPr>
              <a:t>Conteúdo</a:t>
            </a:r>
            <a:endParaRPr b="1" sz="2500">
              <a:solidFill>
                <a:srgbClr val="0C343D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AutoNum type="arabicPeriod"/>
            </a:pPr>
            <a:r>
              <a:rPr b="1" lang="pt-BR" sz="2000">
                <a:solidFill>
                  <a:srgbClr val="434343"/>
                </a:solidFill>
              </a:rPr>
              <a:t>Introdução</a:t>
            </a:r>
            <a:endParaRPr b="1" sz="2000">
              <a:solidFill>
                <a:srgbClr val="434343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AutoNum type="arabicPeriod"/>
            </a:pPr>
            <a:r>
              <a:rPr b="1" lang="pt-BR" sz="2000">
                <a:solidFill>
                  <a:srgbClr val="434343"/>
                </a:solidFill>
              </a:rPr>
              <a:t>Vetores</a:t>
            </a:r>
            <a:endParaRPr b="1" sz="2000">
              <a:solidFill>
                <a:srgbClr val="434343"/>
              </a:solidFill>
            </a:endParaRPr>
          </a:p>
          <a:p>
            <a:pPr indent="-3556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AutoNum type="arabicPeriod"/>
            </a:pPr>
            <a:r>
              <a:rPr b="1" lang="pt-BR" sz="2000">
                <a:solidFill>
                  <a:srgbClr val="434343"/>
                </a:solidFill>
              </a:rPr>
              <a:t>Inicializando Vetores</a:t>
            </a:r>
            <a:endParaRPr b="1" sz="2000">
              <a:solidFill>
                <a:srgbClr val="434343"/>
              </a:solidFill>
            </a:endParaRPr>
          </a:p>
          <a:p>
            <a:pPr indent="-3556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AutoNum type="arabicPeriod"/>
            </a:pPr>
            <a:r>
              <a:rPr b="1" lang="pt-BR" sz="2000">
                <a:solidFill>
                  <a:srgbClr val="434343"/>
                </a:solidFill>
              </a:rPr>
              <a:t>Imprimindo os elementos de um vetor</a:t>
            </a:r>
            <a:endParaRPr b="1" sz="2000">
              <a:solidFill>
                <a:srgbClr val="434343"/>
              </a:solidFill>
            </a:endParaRPr>
          </a:p>
          <a:p>
            <a:pPr indent="-3556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AutoNum type="arabicPeriod"/>
            </a:pPr>
            <a:r>
              <a:rPr b="1" lang="pt-BR" sz="2000">
                <a:solidFill>
                  <a:srgbClr val="434343"/>
                </a:solidFill>
              </a:rPr>
              <a:t>Exemplos</a:t>
            </a:r>
            <a:endParaRPr b="1" sz="2000">
              <a:solidFill>
                <a:srgbClr val="434343"/>
              </a:solidFill>
            </a:endParaRPr>
          </a:p>
        </p:txBody>
      </p:sp>
      <p:pic>
        <p:nvPicPr>
          <p:cNvPr id="84" name="Google Shape;84;p14" title="swo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840004" y="3504105"/>
            <a:ext cx="2711317" cy="5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title="bm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851925"/>
            <a:ext cx="703543" cy="9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22000" y="3022600"/>
            <a:ext cx="69525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rgbClr val="0C343D"/>
                </a:solidFill>
              </a:rPr>
              <a:t>Introdução</a:t>
            </a:r>
            <a:endParaRPr b="1" sz="42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C343D"/>
              </a:solidFill>
            </a:endParaRPr>
          </a:p>
        </p:txBody>
      </p:sp>
      <p:pic>
        <p:nvPicPr>
          <p:cNvPr id="102" name="Google Shape;102;p15" title="Finn_and_Jak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0325" y="1834800"/>
            <a:ext cx="2080504" cy="243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Introdução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Os tipos primitivos (int, boolean, char, float, double) não são suficientes para representar ou armazenar todas as possíveis informações em um programa;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Uma variável simples armazena apenas 1 valor de um certo tipo;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E se quisermos guardar, para usar no programa, um conjunto de valores relacionados ?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Exemplos: as notas de uma turma, uma lista de nomes de pessoas, um conjunto de números que devem estar em uma certa ordem, etc.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Introdução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Introdução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Um array é uma variável que armazena, em sequência, um conjunto de informações: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de um mesmo tipo de dados;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de tamanho finito e fixo (definido na declaração).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Os arrays podem ser chamados de: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“vetor”: um índice, correspondente a um conjunto de valores em uma linha;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“matriz”: mais de um índice, correspondente a uma matriz de valores (linhas e colunas).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Introdução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title="flambo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2525" y="5705275"/>
            <a:ext cx="1049050" cy="10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22000" y="3022600"/>
            <a:ext cx="8100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rgbClr val="0C343D"/>
                </a:solidFill>
              </a:rPr>
              <a:t>Vetores</a:t>
            </a:r>
            <a:endParaRPr b="1" sz="42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C343D"/>
              </a:solidFill>
            </a:endParaRPr>
          </a:p>
        </p:txBody>
      </p:sp>
      <p:pic>
        <p:nvPicPr>
          <p:cNvPr id="154" name="Google Shape;154;p18" title="Finn_and_Jak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0325" y="1834800"/>
            <a:ext cx="2080504" cy="243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Vetores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A declaração de um vetor tem a forma: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&lt; tipo &gt; nome[n]; onde n é o número de elementos do vetor.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Exemplo: </a:t>
            </a:r>
            <a:r>
              <a:rPr b="1" lang="pt-BR" sz="1600">
                <a:solidFill>
                  <a:srgbClr val="434343"/>
                </a:solidFill>
              </a:rPr>
              <a:t>int notas [10]</a:t>
            </a:r>
            <a:endParaRPr b="1"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declara um vetor de inteiros (int)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o nome “notas” deve ser utilizado para acessar o vetor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pode guardar até 10 elementos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Um elemento do vetor é acessado através do seu nome e da posição que ele ocupa (índice)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Primeiro elemento: índice 0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Último elemento: índice n−1, sendo n o tamanho do vetor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No vetor </a:t>
            </a:r>
            <a:r>
              <a:rPr b="1" lang="pt-BR" sz="1600">
                <a:solidFill>
                  <a:srgbClr val="434343"/>
                </a:solidFill>
              </a:rPr>
              <a:t>notas</a:t>
            </a:r>
            <a:r>
              <a:rPr lang="pt-BR" sz="1600">
                <a:solidFill>
                  <a:srgbClr val="434343"/>
                </a:solidFill>
              </a:rPr>
              <a:t> o último elemento é acessado pelo índice 9 (a[9])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Pode ser utilizada uma expressão aritmética para se obter um elemento: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numeros[1+3] retorna o elemento da posição 4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Vetores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title="gun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00" y="5787300"/>
            <a:ext cx="590550" cy="8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22000" y="3022600"/>
            <a:ext cx="8100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rgbClr val="0C343D"/>
                </a:solidFill>
              </a:rPr>
              <a:t>Vetores</a:t>
            </a:r>
            <a:endParaRPr b="1" sz="42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C343D"/>
                </a:solidFill>
              </a:rPr>
              <a:t>Inicializando Vetores</a:t>
            </a:r>
            <a:endParaRPr b="1" sz="2400">
              <a:solidFill>
                <a:srgbClr val="0C343D"/>
              </a:solidFill>
            </a:endParaRPr>
          </a:p>
        </p:txBody>
      </p:sp>
      <p:pic>
        <p:nvPicPr>
          <p:cNvPr id="189" name="Google Shape;189;p20" title="Finn_and_Jak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5653" y="1834800"/>
            <a:ext cx="2080504" cy="243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Vetores :: Inicializando Vetores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Os elementos do vetor devem ser fornecidos antes da sua utilização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A declaração de um vetor na forma “&lt;tipo&gt; &lt;nome&gt;[n]” reserva apenas o espaço de memória correspondente ao tamanho do vetor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Inicialização pode ser: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Durante a declaração do vetor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Depois da declaração, em tempo de execução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Exemplo de inicialização na declaração: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int[ ] v2 = { 3 , 4 , 6 , 12 , 1 6 };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Inicializando </a:t>
            </a:r>
            <a:r>
              <a:rPr b="1" lang="pt-BR" sz="2500">
                <a:solidFill>
                  <a:srgbClr val="0C343D"/>
                </a:solidFill>
              </a:rPr>
              <a:t>Vetores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Vetores :: Inicializando Vetores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221" name="Google Shape;2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88050" y="2221516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Exemplo de inicialização na execução com atribuição:</a:t>
            </a:r>
            <a:br>
              <a:rPr lang="pt-BR" sz="1600">
                <a:solidFill>
                  <a:srgbClr val="434343"/>
                </a:solidFill>
              </a:rPr>
            </a:b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int[  ] v1 = new int [ 10 ];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for ( int i = 0; i &lt; 10; i ++ ) {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 v1 [ i ] = i +1;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}</a:t>
            </a:r>
            <a:br>
              <a:rPr lang="pt-BR" sz="1600">
                <a:solidFill>
                  <a:srgbClr val="434343"/>
                </a:solidFill>
              </a:rPr>
            </a:b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Exemplo de inicialização na execução com leitura:</a:t>
            </a:r>
            <a:br>
              <a:rPr lang="pt-BR" sz="1600">
                <a:solidFill>
                  <a:srgbClr val="434343"/>
                </a:solidFill>
              </a:rPr>
            </a:b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int[  ] v1= new int[ 10 ];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Scanner scanner = new Scanner(System.in);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for ( int i = 0; i &lt; 10; i ++ ) {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  v1 [</a:t>
            </a:r>
            <a:r>
              <a:rPr lang="pt-BR" sz="1600">
                <a:solidFill>
                  <a:srgbClr val="434343"/>
                </a:solidFill>
              </a:rPr>
              <a:t> i</a:t>
            </a:r>
            <a:r>
              <a:rPr lang="pt-BR" sz="1600">
                <a:solidFill>
                  <a:srgbClr val="434343"/>
                </a:solidFill>
              </a:rPr>
              <a:t> ] = scanner.nextInt() 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}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Inicializando Vetores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Vetores :: Inicializando Vetores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238" name="Google Shape;2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Vetores declarados, mas não inicializados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Os elementos do vetor possuem valores indeterminados (qualquer valor que esteja na memória)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Vetores inicializados parcialmente na declaração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Aos elementos restantes é atribuído valores-padrão (0, false, null, etc.)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Exemplo: 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int[  ] v2 = new int[ 5 ];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v[ 0 ] = 2; v[ 1 ] = 7; v[ 3 ] = 1;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Os outros 2 elementos serão 0.</a:t>
            </a:r>
            <a:br>
              <a:rPr lang="pt-BR" sz="1600">
                <a:solidFill>
                  <a:srgbClr val="434343"/>
                </a:solidFill>
              </a:rPr>
            </a:b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pt-BR" sz="1600">
                <a:solidFill>
                  <a:srgbClr val="434343"/>
                </a:solidFill>
              </a:rPr>
              <a:t>Atenção:</a:t>
            </a:r>
            <a:r>
              <a:rPr lang="pt-BR" sz="1600">
                <a:solidFill>
                  <a:srgbClr val="434343"/>
                </a:solidFill>
              </a:rPr>
              <a:t> A atribuição de um vetor a outro não é permitida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Observações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title="bm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851925"/>
            <a:ext cx="703543" cy="9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title="Finn_and_Jak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4710" y="1834800"/>
            <a:ext cx="2080504" cy="243032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522000" y="3022600"/>
            <a:ext cx="8100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rgbClr val="0C343D"/>
                </a:solidFill>
              </a:rPr>
              <a:t>Vetores</a:t>
            </a:r>
            <a:endParaRPr b="1" sz="42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C343D"/>
                </a:solidFill>
              </a:rPr>
              <a:t>Imprimindo os Elementos de um Vetor</a:t>
            </a:r>
            <a:endParaRPr b="1" sz="24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Vetores :: Imprimindo os Elementos de um Vetor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273" name="Google Shape;2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Para imprimir todos os elementos de vetor: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Use uma estrutura de repetição para percorrer todo o vetor</a:t>
            </a:r>
            <a:endParaRPr sz="1600">
              <a:solidFill>
                <a:srgbClr val="434343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pt-BR" sz="1600">
                <a:solidFill>
                  <a:srgbClr val="434343"/>
                </a:solidFill>
              </a:rPr>
              <a:t>Por ser mais compacta, normalmente usa-se o “for”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pt-BR" sz="1600">
                <a:solidFill>
                  <a:srgbClr val="434343"/>
                </a:solidFill>
              </a:rPr>
              <a:t>Imprimindo os elementos de um vetor de tamanho 50:</a:t>
            </a:r>
            <a:br>
              <a:rPr lang="pt-BR" sz="1600">
                <a:solidFill>
                  <a:srgbClr val="434343"/>
                </a:solidFill>
              </a:rPr>
            </a:b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for ( int i = 0; i &lt; 50; i ++ ) {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   System.out.println( v1[i] );</a:t>
            </a:r>
            <a:br>
              <a:rPr lang="pt-BR" sz="1600">
                <a:solidFill>
                  <a:srgbClr val="434343"/>
                </a:solidFill>
              </a:rPr>
            </a:br>
            <a:r>
              <a:rPr lang="pt-BR" sz="1600">
                <a:solidFill>
                  <a:srgbClr val="434343"/>
                </a:solidFill>
              </a:rPr>
              <a:t>}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Imprimindo os Elementos de um Vetor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290" name="Google Shape;2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title="flambo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2525" y="5705275"/>
            <a:ext cx="1049050" cy="10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522000" y="3022600"/>
            <a:ext cx="8100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rgbClr val="0C343D"/>
                </a:solidFill>
              </a:rPr>
              <a:t>Vetores</a:t>
            </a:r>
            <a:endParaRPr b="1" sz="42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C343D"/>
                </a:solidFill>
              </a:rPr>
              <a:t>Exemplos</a:t>
            </a:r>
            <a:endParaRPr b="1" sz="2400">
              <a:solidFill>
                <a:srgbClr val="0C343D"/>
              </a:solidFill>
            </a:endParaRPr>
          </a:p>
        </p:txBody>
      </p:sp>
      <p:pic>
        <p:nvPicPr>
          <p:cNvPr id="293" name="Google Shape;293;p26" title="Finn_and_Jak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0325" y="1834800"/>
            <a:ext cx="2080504" cy="243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lt1"/>
                </a:solidFill>
              </a:rPr>
              <a:t>Vetores :: Exemplos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308" name="Google Shape;3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AutoNum type="arabicPeriod"/>
            </a:pPr>
            <a:r>
              <a:rPr lang="pt-BR" sz="1600">
                <a:solidFill>
                  <a:srgbClr val="434343"/>
                </a:solidFill>
              </a:rPr>
              <a:t>Dado um vetor com 10 números reais, faça um algoritmo que percorra o vetor e imprima o seu maior elemento.</a:t>
            </a:r>
            <a:br>
              <a:rPr lang="pt-BR" sz="1600">
                <a:solidFill>
                  <a:srgbClr val="434343"/>
                </a:solidFill>
              </a:rPr>
            </a:b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AutoNum type="arabicPeriod"/>
            </a:pPr>
            <a:r>
              <a:rPr lang="pt-BR" sz="1600">
                <a:solidFill>
                  <a:srgbClr val="434343"/>
                </a:solidFill>
              </a:rPr>
              <a:t>Utilizando vetor, imprimir os n primeiros termos da série de Fibonacci: 1 1 2 3 5 8 ... n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>
                <a:solidFill>
                  <a:srgbClr val="0C343D"/>
                </a:solidFill>
              </a:rPr>
              <a:t>Exemplos</a:t>
            </a:r>
            <a:endParaRPr b="1" sz="25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8" title="three-house.png"/>
          <p:cNvPicPr preferRelativeResize="0"/>
          <p:nvPr/>
        </p:nvPicPr>
        <p:blipFill rotWithShape="1">
          <a:blip r:embed="rId3">
            <a:alphaModFix/>
          </a:blip>
          <a:srcRect b="0" l="2107" r="2107" t="0"/>
          <a:stretch/>
        </p:blipFill>
        <p:spPr>
          <a:xfrm>
            <a:off x="4703496" y="2830675"/>
            <a:ext cx="2693903" cy="39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"/>
          <p:cNvSpPr txBox="1"/>
          <p:nvPr>
            <p:ph type="ctrTitle"/>
          </p:nvPr>
        </p:nvSpPr>
        <p:spPr>
          <a:xfrm>
            <a:off x="-100" y="442373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4579450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4491900" y="6143850"/>
            <a:ext cx="118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and Jake</a:t>
            </a:r>
            <a:endParaRPr sz="18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2023275" y="4098072"/>
            <a:ext cx="11880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Finn</a:t>
            </a:r>
            <a:endParaRPr sz="35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328" name="Google Shape;32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720" y="3008945"/>
            <a:ext cx="3077880" cy="3453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5350" y="4611198"/>
            <a:ext cx="1502104" cy="209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675" y="1344797"/>
            <a:ext cx="2963948" cy="1667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9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45793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42" name="Google Shape;342;p29"/>
          <p:cNvSpPr txBox="1"/>
          <p:nvPr/>
        </p:nvSpPr>
        <p:spPr>
          <a:xfrm>
            <a:off x="-50" y="57600"/>
            <a:ext cx="45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4562225" y="5760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9D9D9"/>
              </a:solidFill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-63500" y="442867"/>
            <a:ext cx="9212400" cy="518400"/>
          </a:xfrm>
          <a:prstGeom prst="rect">
            <a:avLst/>
          </a:prstGeom>
          <a:gradFill>
            <a:gsLst>
              <a:gs pos="0">
                <a:srgbClr val="00A00A"/>
              </a:gs>
              <a:gs pos="100000">
                <a:srgbClr val="393939"/>
              </a:gs>
            </a:gsLst>
            <a:lin ang="0" scaled="0"/>
          </a:gra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"/>
          <p:cNvSpPr txBox="1"/>
          <p:nvPr>
            <p:ph type="ctrTitle"/>
          </p:nvPr>
        </p:nvSpPr>
        <p:spPr>
          <a:xfrm>
            <a:off x="-100" y="442374"/>
            <a:ext cx="9144000" cy="518400"/>
          </a:xfrm>
          <a:prstGeom prst="rect">
            <a:avLst/>
          </a:prstGeom>
        </p:spPr>
        <p:txBody>
          <a:bodyPr anchorCtr="0" anchor="b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Estruturas de Dados: Arrays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">
              <a:solidFill>
                <a:schemeClr val="lt1"/>
              </a:solidFill>
            </a:endParaRPr>
          </a:p>
        </p:txBody>
      </p:sp>
      <p:pic>
        <p:nvPicPr>
          <p:cNvPr id="346" name="Google Shape;3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547075" y="1270000"/>
            <a:ext cx="81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0C343D"/>
                </a:solidFill>
              </a:rPr>
              <a:t>Exercícios</a:t>
            </a:r>
            <a:endParaRPr b="1" sz="2500">
              <a:solidFill>
                <a:srgbClr val="0C343D"/>
              </a:solidFill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788050" y="2243150"/>
            <a:ext cx="75810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AutoNum type="arabicPeriod"/>
            </a:pPr>
            <a:r>
              <a:rPr lang="pt-BR" sz="1600">
                <a:solidFill>
                  <a:srgbClr val="434343"/>
                </a:solidFill>
              </a:rPr>
              <a:t>Defina dois vetores com 5 elementos cada. Faça um algoritmo que calcule e imprima a soma deles. Ou seja, a soma de cada elemento de um vetor pelo elemento correspondente do outro vetor.</a:t>
            </a:r>
            <a:br>
              <a:rPr lang="pt-BR" sz="1600">
                <a:solidFill>
                  <a:srgbClr val="434343"/>
                </a:solidFill>
              </a:rPr>
            </a:b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AutoNum type="arabicPeriod"/>
            </a:pPr>
            <a:r>
              <a:rPr lang="pt-BR" sz="1600">
                <a:solidFill>
                  <a:srgbClr val="434343"/>
                </a:solidFill>
              </a:rPr>
              <a:t>Leia a nota de 38 alunos de uma turma e calcule a média das notas, a maior e a menor nota.</a:t>
            </a:r>
            <a:br>
              <a:rPr lang="pt-BR" sz="1600">
                <a:solidFill>
                  <a:srgbClr val="434343"/>
                </a:solidFill>
              </a:rPr>
            </a:b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0" title="prog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00" y="5003133"/>
            <a:ext cx="1984726" cy="15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/>
          <p:nvPr/>
        </p:nvSpPr>
        <p:spPr>
          <a:xfrm>
            <a:off x="707100" y="1662733"/>
            <a:ext cx="7729800" cy="907200"/>
          </a:xfrm>
          <a:prstGeom prst="roundRect">
            <a:avLst>
              <a:gd fmla="val 16667" name="adj"/>
            </a:avLst>
          </a:prstGeom>
          <a:solidFill>
            <a:srgbClr val="358159"/>
          </a:solidFill>
          <a:ln>
            <a:noFill/>
          </a:ln>
          <a:effectLst>
            <a:outerShdw blurRad="57150" rotWithShape="0" algn="bl" dir="27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0"/>
          <p:cNvSpPr txBox="1"/>
          <p:nvPr>
            <p:ph type="ctrTitle"/>
          </p:nvPr>
        </p:nvSpPr>
        <p:spPr>
          <a:xfrm>
            <a:off x="311700" y="1381600"/>
            <a:ext cx="8520600" cy="11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Programação Estruturada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chemeClr val="lt1"/>
                </a:solidFill>
              </a:rPr>
              <a:t>Aula 09 - Estruturas de Dados: Arrays</a:t>
            </a:r>
            <a:endParaRPr sz="1450">
              <a:solidFill>
                <a:schemeClr val="lt1"/>
              </a:solidFill>
            </a:endParaRPr>
          </a:p>
        </p:txBody>
      </p:sp>
      <p:sp>
        <p:nvSpPr>
          <p:cNvPr id="356" name="Google Shape;356;p30"/>
          <p:cNvSpPr txBox="1"/>
          <p:nvPr>
            <p:ph idx="1" type="subTitle"/>
          </p:nvPr>
        </p:nvSpPr>
        <p:spPr>
          <a:xfrm>
            <a:off x="311700" y="3304400"/>
            <a:ext cx="8520600" cy="25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Prof. Ramon Hugo de Souza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(ramon.hugo@ifsc.edu.br)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Instituto Federal de Santa Catarina (IFSC)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Análise e Desenvolvimento de Sistemas, Campus São José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Programação Frontend I (FEI786202)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4572000" y="0"/>
            <a:ext cx="4572000" cy="449700"/>
          </a:xfrm>
          <a:prstGeom prst="rect">
            <a:avLst/>
          </a:prstGeom>
          <a:solidFill>
            <a:srgbClr val="358159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4572000" y="6525800"/>
            <a:ext cx="4572000" cy="332100"/>
          </a:xfrm>
          <a:prstGeom prst="rect">
            <a:avLst/>
          </a:prstGeom>
          <a:solidFill>
            <a:srgbClr val="358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0" y="6525721"/>
            <a:ext cx="4572000" cy="3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0"/>
          <p:cNvSpPr/>
          <p:nvPr/>
        </p:nvSpPr>
        <p:spPr>
          <a:xfrm>
            <a:off x="0" y="0"/>
            <a:ext cx="4572000" cy="449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47625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14700" y="652592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Prof. Ramon Hugo de Souza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4579425" y="6516075"/>
            <a:ext cx="45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Pensamento Computacional e Algoritmos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-50" y="57600"/>
            <a:ext cx="4557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3"/>
                </a:solidFill>
              </a:rPr>
              <a:t>Programação Estruturada</a:t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4562225" y="57600"/>
            <a:ext cx="45720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D9D9D9"/>
                </a:solidFill>
              </a:rPr>
              <a:t>Aula 09 - Estruturas de Dados: Arrays</a:t>
            </a:r>
            <a:endParaRPr b="1" sz="1000">
              <a:solidFill>
                <a:srgbClr val="D9D9D9"/>
              </a:solidFill>
            </a:endParaRPr>
          </a:p>
        </p:txBody>
      </p:sp>
      <p:pic>
        <p:nvPicPr>
          <p:cNvPr id="365" name="Google Shape;36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3443" y="6100977"/>
            <a:ext cx="1267582" cy="3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